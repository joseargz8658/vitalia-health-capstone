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1" roundtripDataSignature="AMtx7mgjzZ9vJwED6m+/OZ9S17kiHG9Y2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customschemas.google.com/relationships/presentationmetadata" Target="metadata"/><Relationship Id="rId10" Type="http://schemas.openxmlformats.org/officeDocument/2006/relationships/slide" Target="slides/slide6.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Duración sugerida: 35 segundos. Presentar el propósito: gestionar documentos y explicar conceptos con revisión profesional. Roles acordados: José Miguel Aránguiz, móvil e integración; Diego Palma, datos; Mauricio Reyes, IA; Juan, web. Estas son responsabilidades, no atribución de todos los commits. Completar apellido de Juan antes de entregar.</a:t>
            </a:r>
            <a:endParaRPr/>
          </a:p>
          <a:p>
            <a:pPr indent="0" lvl="0" marL="0" rtl="0" algn="l">
              <a:spcBef>
                <a:spcPts val="0"/>
              </a:spcBef>
              <a:spcAft>
                <a:spcPts val="0"/>
              </a:spcAft>
              <a:buNone/>
            </a:pPr>
            <a:r>
              <a:rPr lang="en-US" sz="1200"/>
              <a:t>Fuente: Informe grupal de avance, corte 8-10-2026. Resultados corresponden a hitos diferentes.</a:t>
            </a:r>
            <a:endParaRPr/>
          </a:p>
        </p:txBody>
      </p:sp>
      <p:sp>
        <p:nvSpPr>
          <p:cNvPr id="29" name="Google Shape;29;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Duración sugerida: 80 segundos. Abrir la aplicación real. Mostrar acceso y registro, historial del paciente y estado del documento. Usar un PDF ficticio ya procesado para no consumir la exposición esperando IA. Cambiar a profesional, abrir consulta dedicada y mostrar cotejo y revisión. Volver al paciente para mostrar resultados y acceso flotante al chat. Las capturas actuales no estaban disponibles al preparar esta presentación, por eso esta evidencia se muestra en vivo. Si se reemplaza la demostración por capturas, usar únicamente pantallas reales. No abrir credenciales ni datos personales.</a:t>
            </a:r>
            <a:endParaRPr/>
          </a:p>
          <a:p>
            <a:pPr indent="0" lvl="0" marL="0" rtl="0" algn="l">
              <a:spcBef>
                <a:spcPts val="0"/>
              </a:spcBef>
              <a:spcAft>
                <a:spcPts val="0"/>
              </a:spcAft>
              <a:buNone/>
            </a:pPr>
            <a:r>
              <a:rPr lang="en-US" sz="1200"/>
              <a:t>Fuente: Informe grupal de avance, corte 8-10-2026. Resultados corresponden a hitos diferentes.</a:t>
            </a:r>
            <a:endParaRPr/>
          </a:p>
        </p:txBody>
      </p:sp>
      <p:sp>
        <p:nvSpPr>
          <p:cNvPr id="42" name="Google Shape;42;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Duración sugerida: 55 segundos. Explicar que el worker procesa en segundo plano. PDF con texto usa lectura directa; imágenes o escaneados requieren OCR. El original se conserva. La extracción queda pendiente de revisión. El profesional coteja y corrige una copia, cuya aprobación no aprueba las respuestas educativas de IA. Un fallo de extracción conserva el texto leído, pero impide aprobar datos inexistentes. Fuente adicional: registros de worker compartidos, outcome requires_review.</a:t>
            </a:r>
            <a:endParaRPr/>
          </a:p>
          <a:p>
            <a:pPr indent="0" lvl="0" marL="0" rtl="0" algn="l">
              <a:spcBef>
                <a:spcPts val="0"/>
              </a:spcBef>
              <a:spcAft>
                <a:spcPts val="0"/>
              </a:spcAft>
              <a:buNone/>
            </a:pPr>
            <a:r>
              <a:rPr lang="en-US" sz="1200"/>
              <a:t>Fuente: Informe grupal de avance, corte 8-10-2026. Resultados corresponden a hitos diferentes.</a:t>
            </a:r>
            <a:endParaRPr/>
          </a:p>
        </p:txBody>
      </p:sp>
      <p:sp>
        <p:nvSpPr>
          <p:cNvPr id="55" name="Google Shape;55;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 name="Google Shape;8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Duración sugerida: 60 segundos. Mostrar el diagrama del esquema actual. Abrir Relational_1.pdf en Data Modeler o en un visor para ampliar tablas. Explicar la relación entre cuenta, documento, procesamiento y revisión. Mencionar auditorías y migraciones como tablas técnicas necesarias. Resultados y revisiones usan JSONB. Los tipos fueron adaptados para representar PostgreSQL en Oracle Data Modeler. La imagen ampliada es un recorte del mismo PDF. Fuente: Relational_1.pdf e inventario-vitalia.json, adjuntos del estudiante.</a:t>
            </a:r>
            <a:endParaRPr/>
          </a:p>
          <a:p>
            <a:pPr indent="0" lvl="0" marL="0" rtl="0" algn="l">
              <a:spcBef>
                <a:spcPts val="0"/>
              </a:spcBef>
              <a:spcAft>
                <a:spcPts val="0"/>
              </a:spcAft>
              <a:buNone/>
            </a:pPr>
            <a:r>
              <a:rPr lang="en-US" sz="1200"/>
              <a:t>Fuente: Informe grupal de avance, corte 8-10-2026. Resultados corresponden a hitos diferentes.</a:t>
            </a:r>
            <a:endParaRPr/>
          </a:p>
        </p:txBody>
      </p:sp>
      <p:sp>
        <p:nvSpPr>
          <p:cNvPr id="84" name="Google Shape;84;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Duración sugerida: 65 segundos. Mauricio puede explicar inferencia local con qwen3:4b-instruct y el alcance. Las preguntas y respuestas siguientes provienen de pruebas comunicadas en el chat, no son capturas nuevas. El sistema consulta datos del examen revisado y diferencia solicitante, validador y laboratorio cuando hay ambigüedad. Para la demo usar conversación ya guardada. Explicar que se ajustaron prompts, contratos y catálogo; no hubo entrenamiento de pesos. El catálogo educativo cubrió los 16 indicadores del PDF de prueba. Pendientes: más cobertura y revisión semántica.</a:t>
            </a:r>
            <a:endParaRPr/>
          </a:p>
          <a:p>
            <a:pPr indent="0" lvl="0" marL="0" rtl="0" algn="l">
              <a:spcBef>
                <a:spcPts val="0"/>
              </a:spcBef>
              <a:spcAft>
                <a:spcPts val="0"/>
              </a:spcAft>
              <a:buNone/>
            </a:pPr>
            <a:r>
              <a:rPr lang="en-US" sz="1200"/>
              <a:t>Fuente: Informe grupal de avance, corte 8-10-2026. Resultados corresponden a hitos diferentes.</a:t>
            </a:r>
            <a:endParaRPr/>
          </a:p>
        </p:txBody>
      </p:sp>
      <p:sp>
        <p:nvSpPr>
          <p:cNvPr id="98" name="Google Shape;98;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Duración sugerida: 60 segundos. Aclarar que los números corresponden a ejecuciones de hitos distintos. Backend 409 pruebas de 40 suites; Flutter 67 pruebas en un hito anterior y analyze sin incidencias. Evaluaciones del asistente 11 de 11 principales y 6 de 6 adicionales. No sumarlas ni afirmar que certifican veracidad médica. Mostrar logs guardados en terminal si hay tiempo. Problemas: timeout de 120 segundos, campos omitidos y navegación. Ajustes: extracción por bloques, catálogo educativo y correcciones de pruebas de desplazamiento y espera. Medir rendimiento sigue pendiente.</a:t>
            </a:r>
            <a:endParaRPr/>
          </a:p>
          <a:p>
            <a:pPr indent="0" lvl="0" marL="0" rtl="0" algn="l">
              <a:spcBef>
                <a:spcPts val="0"/>
              </a:spcBef>
              <a:spcAft>
                <a:spcPts val="0"/>
              </a:spcAft>
              <a:buNone/>
            </a:pPr>
            <a:r>
              <a:rPr lang="en-US" sz="1200"/>
              <a:t>Fuente: Informe grupal de avance, corte 8-10-2026. Resultados corresponden a hitos diferentes.</a:t>
            </a:r>
            <a:endParaRPr/>
          </a:p>
        </p:txBody>
      </p:sp>
      <p:sp>
        <p:nvSpPr>
          <p:cNvPr id="113" name="Google Shape;113;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0"/>
          <p:cNvSpPr txBox="1"/>
          <p:nvPr>
            <p:ph type="title"/>
          </p:nvPr>
        </p:nvSpPr>
        <p:spPr>
          <a:xfrm>
            <a:off x="1219200" y="2590800"/>
            <a:ext cx="9753600" cy="9906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13" name="Google Shape;13;p10"/>
          <p:cNvSpPr txBox="1"/>
          <p:nvPr>
            <p:ph idx="1" type="subTitle"/>
          </p:nvPr>
        </p:nvSpPr>
        <p:spPr>
          <a:xfrm>
            <a:off x="1828800" y="3771900"/>
            <a:ext cx="8534400" cy="7620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1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lvl="2" marR="0" rtl="0" algn="l">
              <a:lnSpc>
                <a:spcPct val="110000"/>
              </a:lnSpc>
              <a:spcBef>
                <a:spcPts val="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lvl="3"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4" name="Shape 14"/>
        <p:cNvGrpSpPr/>
        <p:nvPr/>
      </p:nvGrpSpPr>
      <p:grpSpPr>
        <a:xfrm>
          <a:off x="0" y="0"/>
          <a:ext cx="0" cy="0"/>
          <a:chOff x="0" y="0"/>
          <a:chExt cx="0" cy="0"/>
        </a:xfrm>
      </p:grpSpPr>
      <p:sp>
        <p:nvSpPr>
          <p:cNvPr id="15" name="Google Shape;15;p11"/>
          <p:cNvSpPr txBox="1"/>
          <p:nvPr>
            <p:ph type="title"/>
          </p:nvPr>
        </p:nvSpPr>
        <p:spPr>
          <a:xfrm>
            <a:off x="1219200" y="2857500"/>
            <a:ext cx="9753600" cy="11430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6" name="Shape 16"/>
        <p:cNvGrpSpPr/>
        <p:nvPr/>
      </p:nvGrpSpPr>
      <p:grpSpPr>
        <a:xfrm>
          <a:off x="0" y="0"/>
          <a:ext cx="0" cy="0"/>
          <a:chOff x="0" y="0"/>
          <a:chExt cx="0" cy="0"/>
        </a:xfrm>
      </p:grpSpPr>
      <p:sp>
        <p:nvSpPr>
          <p:cNvPr id="17" name="Google Shape;17;p12"/>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18" name="Google Shape;18;p12"/>
          <p:cNvSpPr txBox="1"/>
          <p:nvPr>
            <p:ph idx="1" type="body"/>
          </p:nvPr>
        </p:nvSpPr>
        <p:spPr>
          <a:xfrm>
            <a:off x="685800" y="1905000"/>
            <a:ext cx="108204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19" name="Shape 19"/>
        <p:cNvGrpSpPr/>
        <p:nvPr/>
      </p:nvGrpSpPr>
      <p:grpSpPr>
        <a:xfrm>
          <a:off x="0" y="0"/>
          <a:ext cx="0" cy="0"/>
          <a:chOff x="0" y="0"/>
          <a:chExt cx="0" cy="0"/>
        </a:xfrm>
      </p:grpSpPr>
      <p:sp>
        <p:nvSpPr>
          <p:cNvPr id="20" name="Google Shape;20;p13"/>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21" name="Google Shape;21;p13"/>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2" name="Google Shape;22;p13"/>
          <p:cNvSpPr txBox="1"/>
          <p:nvPr>
            <p:ph idx="2" type="body"/>
          </p:nvPr>
        </p:nvSpPr>
        <p:spPr>
          <a:xfrm>
            <a:off x="64770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23" name="Shape 23"/>
        <p:cNvGrpSpPr/>
        <p:nvPr/>
      </p:nvGrpSpPr>
      <p:grpSpPr>
        <a:xfrm>
          <a:off x="0" y="0"/>
          <a:ext cx="0" cy="0"/>
          <a:chOff x="0" y="0"/>
          <a:chExt cx="0" cy="0"/>
        </a:xfrm>
      </p:grpSpPr>
      <p:sp>
        <p:nvSpPr>
          <p:cNvPr id="24" name="Google Shape;24;p14"/>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25" name="Google Shape;25;p14"/>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sp>
        <p:nvSpPr>
          <p:cNvPr id="31" name="Google Shape;31;p1"/>
          <p:cNvSpPr/>
          <p:nvPr/>
        </p:nvSpPr>
        <p:spPr>
          <a:xfrm>
            <a:off x="609600" y="438150"/>
            <a:ext cx="108204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2867B2"/>
                </a:solidFill>
                <a:latin typeface="Arial"/>
                <a:ea typeface="Arial"/>
                <a:cs typeface="Arial"/>
                <a:sym typeface="Arial"/>
              </a:rPr>
              <a:t>Vitalia Health</a:t>
            </a:r>
            <a:endParaRPr/>
          </a:p>
        </p:txBody>
      </p:sp>
      <p:sp>
        <p:nvSpPr>
          <p:cNvPr id="32" name="Google Shape;32;p1"/>
          <p:cNvSpPr/>
          <p:nvPr/>
        </p:nvSpPr>
        <p:spPr>
          <a:xfrm>
            <a:off x="609600" y="6486525"/>
            <a:ext cx="9906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96B78"/>
                </a:solidFill>
                <a:latin typeface="Arial"/>
                <a:ea typeface="Arial"/>
                <a:cs typeface="Arial"/>
                <a:sym typeface="Arial"/>
              </a:rPr>
              <a:t>Vitalia Health · Avance Fase 2 · 8 de octubre de 2026</a:t>
            </a:r>
            <a:endParaRPr/>
          </a:p>
        </p:txBody>
      </p:sp>
      <p:sp>
        <p:nvSpPr>
          <p:cNvPr id="33" name="Google Shape;33;p1"/>
          <p:cNvSpPr/>
          <p:nvPr/>
        </p:nvSpPr>
        <p:spPr>
          <a:xfrm>
            <a:off x="11239500" y="6486525"/>
            <a:ext cx="33337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96B78"/>
                </a:solidFill>
                <a:latin typeface="Arial"/>
                <a:ea typeface="Arial"/>
                <a:cs typeface="Arial"/>
                <a:sym typeface="Arial"/>
              </a:rPr>
              <a:t>1</a:t>
            </a:r>
            <a:endParaRPr/>
          </a:p>
        </p:txBody>
      </p:sp>
      <p:sp>
        <p:nvSpPr>
          <p:cNvPr id="34" name="Google Shape;34;p1"/>
          <p:cNvSpPr/>
          <p:nvPr/>
        </p:nvSpPr>
        <p:spPr>
          <a:xfrm>
            <a:off x="609600" y="1762125"/>
            <a:ext cx="6858000"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4350">
                <a:solidFill>
                  <a:srgbClr val="263238"/>
                </a:solidFill>
                <a:latin typeface="Arial"/>
                <a:ea typeface="Arial"/>
                <a:cs typeface="Arial"/>
                <a:sym typeface="Arial"/>
              </a:rPr>
              <a:t>Avances del proyecto</a:t>
            </a:r>
            <a:endParaRPr/>
          </a:p>
        </p:txBody>
      </p:sp>
      <p:sp>
        <p:nvSpPr>
          <p:cNvPr id="35" name="Google Shape;35;p1"/>
          <p:cNvSpPr/>
          <p:nvPr/>
        </p:nvSpPr>
        <p:spPr>
          <a:xfrm>
            <a:off x="609600" y="2647950"/>
            <a:ext cx="704850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475">
                <a:solidFill>
                  <a:srgbClr val="596B78"/>
                </a:solidFill>
                <a:latin typeface="Arial"/>
                <a:ea typeface="Arial"/>
                <a:cs typeface="Arial"/>
                <a:sym typeface="Arial"/>
              </a:rPr>
              <a:t>Un examen, desde la carga</a:t>
            </a:r>
            <a:endParaRPr/>
          </a:p>
          <a:p>
            <a:pPr indent="0" lvl="0" marL="0" marR="0" rtl="0" algn="l">
              <a:spcBef>
                <a:spcPts val="0"/>
              </a:spcBef>
              <a:spcAft>
                <a:spcPts val="0"/>
              </a:spcAft>
              <a:buNone/>
            </a:pPr>
            <a:r>
              <a:rPr b="0" lang="en-US" sz="2475">
                <a:solidFill>
                  <a:srgbClr val="596B78"/>
                </a:solidFill>
                <a:latin typeface="Arial"/>
                <a:ea typeface="Arial"/>
                <a:cs typeface="Arial"/>
                <a:sym typeface="Arial"/>
              </a:rPr>
              <a:t>hasta la consulta del paciente</a:t>
            </a:r>
            <a:endParaRPr/>
          </a:p>
        </p:txBody>
      </p:sp>
      <p:pic>
        <p:nvPicPr>
          <p:cNvPr id="36" name="Google Shape;36;p1"/>
          <p:cNvPicPr preferRelativeResize="0"/>
          <p:nvPr/>
        </p:nvPicPr>
        <p:blipFill rotWithShape="1">
          <a:blip r:embed="rId3">
            <a:alphaModFix/>
          </a:blip>
          <a:srcRect b="0" l="0" r="0" t="0"/>
          <a:stretch/>
        </p:blipFill>
        <p:spPr>
          <a:xfrm>
            <a:off x="8143875" y="1304925"/>
            <a:ext cx="3143250" cy="3143250"/>
          </a:xfrm>
          <a:prstGeom prst="rect">
            <a:avLst/>
          </a:prstGeom>
          <a:noFill/>
          <a:ln>
            <a:noFill/>
          </a:ln>
        </p:spPr>
      </p:pic>
      <p:sp>
        <p:nvSpPr>
          <p:cNvPr id="37" name="Google Shape;37;p1"/>
          <p:cNvSpPr/>
          <p:nvPr/>
        </p:nvSpPr>
        <p:spPr>
          <a:xfrm>
            <a:off x="609600" y="4648200"/>
            <a:ext cx="9525000" cy="809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263238"/>
                </a:solidFill>
                <a:latin typeface="Arial"/>
                <a:ea typeface="Arial"/>
                <a:cs typeface="Arial"/>
                <a:sym typeface="Arial"/>
              </a:rPr>
              <a:t>José Miguel Aránguiz  /  Diego Palma</a:t>
            </a:r>
            <a:endParaRPr/>
          </a:p>
          <a:p>
            <a:pPr indent="0" lvl="0" marL="0" marR="0" rtl="0" algn="l">
              <a:spcBef>
                <a:spcPts val="0"/>
              </a:spcBef>
              <a:spcAft>
                <a:spcPts val="0"/>
              </a:spcAft>
              <a:buNone/>
            </a:pPr>
            <a:r>
              <a:rPr b="0" lang="en-US" sz="1875">
                <a:solidFill>
                  <a:srgbClr val="263238"/>
                </a:solidFill>
                <a:latin typeface="Arial"/>
                <a:ea typeface="Arial"/>
                <a:cs typeface="Arial"/>
                <a:sym typeface="Arial"/>
              </a:rPr>
              <a:t>Mauricio Reyes  /  Juan</a:t>
            </a:r>
            <a:endParaRPr/>
          </a:p>
        </p:txBody>
      </p:sp>
      <p:sp>
        <p:nvSpPr>
          <p:cNvPr id="38" name="Google Shape;38;p1"/>
          <p:cNvSpPr/>
          <p:nvPr/>
        </p:nvSpPr>
        <p:spPr>
          <a:xfrm>
            <a:off x="609600" y="5572125"/>
            <a:ext cx="95250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596B78"/>
                </a:solidFill>
                <a:latin typeface="Arial"/>
                <a:ea typeface="Arial"/>
                <a:cs typeface="Arial"/>
                <a:sym typeface="Arial"/>
              </a:rPr>
              <a:t>Duoc UC · Ingeniería Informática</a:t>
            </a:r>
            <a:endParaRPr/>
          </a:p>
          <a:p>
            <a:pPr indent="0" lvl="0" marL="0" marR="0" rtl="0" algn="l">
              <a:spcBef>
                <a:spcPts val="0"/>
              </a:spcBef>
              <a:spcAft>
                <a:spcPts val="0"/>
              </a:spcAft>
              <a:buNone/>
            </a:pPr>
            <a:r>
              <a:rPr b="0" lang="en-US" sz="1650">
                <a:solidFill>
                  <a:srgbClr val="596B78"/>
                </a:solidFill>
                <a:latin typeface="Arial"/>
                <a:ea typeface="Arial"/>
                <a:cs typeface="Arial"/>
                <a:sym typeface="Arial"/>
              </a:rPr>
              <a:t>Docente: Osnellys Andrade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 name="Shape 43"/>
        <p:cNvGrpSpPr/>
        <p:nvPr/>
      </p:nvGrpSpPr>
      <p:grpSpPr>
        <a:xfrm>
          <a:off x="0" y="0"/>
          <a:ext cx="0" cy="0"/>
          <a:chOff x="0" y="0"/>
          <a:chExt cx="0" cy="0"/>
        </a:xfrm>
      </p:grpSpPr>
      <p:sp>
        <p:nvSpPr>
          <p:cNvPr id="44" name="Google Shape;44;p2"/>
          <p:cNvSpPr/>
          <p:nvPr/>
        </p:nvSpPr>
        <p:spPr>
          <a:xfrm>
            <a:off x="609600" y="438150"/>
            <a:ext cx="108204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2867B2"/>
                </a:solidFill>
                <a:latin typeface="Arial"/>
                <a:ea typeface="Arial"/>
                <a:cs typeface="Arial"/>
                <a:sym typeface="Arial"/>
              </a:rPr>
              <a:t>Frontend y demostración del proyecto</a:t>
            </a:r>
            <a:endParaRPr/>
          </a:p>
        </p:txBody>
      </p:sp>
      <p:sp>
        <p:nvSpPr>
          <p:cNvPr id="45" name="Google Shape;45;p2"/>
          <p:cNvSpPr/>
          <p:nvPr/>
        </p:nvSpPr>
        <p:spPr>
          <a:xfrm>
            <a:off x="609600" y="6486525"/>
            <a:ext cx="9906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96B78"/>
                </a:solidFill>
                <a:latin typeface="Arial"/>
                <a:ea typeface="Arial"/>
                <a:cs typeface="Arial"/>
                <a:sym typeface="Arial"/>
              </a:rPr>
              <a:t>Vitalia Health · Avance Fase 2 · 8 de octubre de 2026</a:t>
            </a:r>
            <a:endParaRPr/>
          </a:p>
        </p:txBody>
      </p:sp>
      <p:sp>
        <p:nvSpPr>
          <p:cNvPr id="46" name="Google Shape;46;p2"/>
          <p:cNvSpPr/>
          <p:nvPr/>
        </p:nvSpPr>
        <p:spPr>
          <a:xfrm>
            <a:off x="11239500" y="6486525"/>
            <a:ext cx="33337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96B78"/>
                </a:solidFill>
                <a:latin typeface="Arial"/>
                <a:ea typeface="Arial"/>
                <a:cs typeface="Arial"/>
                <a:sym typeface="Arial"/>
              </a:rPr>
              <a:t>2</a:t>
            </a:r>
            <a:endParaRPr/>
          </a:p>
        </p:txBody>
      </p:sp>
      <p:sp>
        <p:nvSpPr>
          <p:cNvPr id="47" name="Google Shape;47;p2"/>
          <p:cNvSpPr/>
          <p:nvPr/>
        </p:nvSpPr>
        <p:spPr>
          <a:xfrm>
            <a:off x="609600" y="1495425"/>
            <a:ext cx="4667250"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25">
                <a:solidFill>
                  <a:srgbClr val="39A59A"/>
                </a:solidFill>
                <a:latin typeface="Arial"/>
                <a:ea typeface="Arial"/>
                <a:cs typeface="Arial"/>
                <a:sym typeface="Arial"/>
              </a:rPr>
              <a:t>Lo que mejoramos</a:t>
            </a:r>
            <a:endParaRPr/>
          </a:p>
        </p:txBody>
      </p:sp>
      <p:sp>
        <p:nvSpPr>
          <p:cNvPr id="48" name="Google Shape;48;p2"/>
          <p:cNvSpPr/>
          <p:nvPr/>
        </p:nvSpPr>
        <p:spPr>
          <a:xfrm>
            <a:off x="609600" y="2181225"/>
            <a:ext cx="4857750" cy="3381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950">
                <a:solidFill>
                  <a:srgbClr val="263238"/>
                </a:solidFill>
                <a:latin typeface="Arial"/>
                <a:ea typeface="Arial"/>
                <a:cs typeface="Arial"/>
                <a:sym typeface="Arial"/>
              </a:rPr>
              <a:t>Identidad visual y formularios espaciados</a:t>
            </a:r>
            <a:endParaRPr/>
          </a:p>
          <a:p>
            <a:pPr indent="0" lvl="0" marL="0" marR="0" rtl="0" algn="l">
              <a:spcBef>
                <a:spcPts val="0"/>
              </a:spcBef>
              <a:spcAft>
                <a:spcPts val="0"/>
              </a:spcAft>
              <a:buNone/>
            </a:pPr>
            <a:r>
              <a:t/>
            </a:r>
            <a:endParaRPr b="0" sz="1950">
              <a:solidFill>
                <a:srgbClr val="263238"/>
              </a:solidFill>
              <a:latin typeface="Arial"/>
              <a:ea typeface="Arial"/>
              <a:cs typeface="Arial"/>
              <a:sym typeface="Arial"/>
            </a:endParaRPr>
          </a:p>
          <a:p>
            <a:pPr indent="0" lvl="0" marL="0" marR="0" rtl="0" algn="l">
              <a:spcBef>
                <a:spcPts val="0"/>
              </a:spcBef>
              <a:spcAft>
                <a:spcPts val="0"/>
              </a:spcAft>
              <a:buNone/>
            </a:pPr>
            <a:r>
              <a:rPr b="0" lang="en-US" sz="1950">
                <a:solidFill>
                  <a:srgbClr val="263238"/>
                </a:solidFill>
                <a:latin typeface="Arial"/>
                <a:ea typeface="Arial"/>
                <a:cs typeface="Arial"/>
                <a:sym typeface="Arial"/>
              </a:rPr>
              <a:t>Consultas en pantallas dedicadas</a:t>
            </a:r>
            <a:endParaRPr/>
          </a:p>
          <a:p>
            <a:pPr indent="0" lvl="0" marL="0" marR="0" rtl="0" algn="l">
              <a:spcBef>
                <a:spcPts val="0"/>
              </a:spcBef>
              <a:spcAft>
                <a:spcPts val="0"/>
              </a:spcAft>
              <a:buNone/>
            </a:pPr>
            <a:r>
              <a:t/>
            </a:r>
            <a:endParaRPr b="0" sz="1950">
              <a:solidFill>
                <a:srgbClr val="263238"/>
              </a:solidFill>
              <a:latin typeface="Arial"/>
              <a:ea typeface="Arial"/>
              <a:cs typeface="Arial"/>
              <a:sym typeface="Arial"/>
            </a:endParaRPr>
          </a:p>
          <a:p>
            <a:pPr indent="0" lvl="0" marL="0" marR="0" rtl="0" algn="l">
              <a:spcBef>
                <a:spcPts val="0"/>
              </a:spcBef>
              <a:spcAft>
                <a:spcPts val="0"/>
              </a:spcAft>
              <a:buNone/>
            </a:pPr>
            <a:r>
              <a:rPr b="0" lang="en-US" sz="1950">
                <a:solidFill>
                  <a:srgbClr val="263238"/>
                </a:solidFill>
                <a:latin typeface="Arial"/>
                <a:ea typeface="Arial"/>
                <a:cs typeface="Arial"/>
                <a:sym typeface="Arial"/>
              </a:rPr>
              <a:t>Datos revisados y chat diferenciados</a:t>
            </a:r>
            <a:endParaRPr/>
          </a:p>
          <a:p>
            <a:pPr indent="0" lvl="0" marL="0" marR="0" rtl="0" algn="l">
              <a:spcBef>
                <a:spcPts val="0"/>
              </a:spcBef>
              <a:spcAft>
                <a:spcPts val="0"/>
              </a:spcAft>
              <a:buNone/>
            </a:pPr>
            <a:r>
              <a:t/>
            </a:r>
            <a:endParaRPr b="0" sz="1950">
              <a:solidFill>
                <a:srgbClr val="263238"/>
              </a:solidFill>
              <a:latin typeface="Arial"/>
              <a:ea typeface="Arial"/>
              <a:cs typeface="Arial"/>
              <a:sym typeface="Arial"/>
            </a:endParaRPr>
          </a:p>
          <a:p>
            <a:pPr indent="0" lvl="0" marL="0" marR="0" rtl="0" algn="l">
              <a:spcBef>
                <a:spcPts val="0"/>
              </a:spcBef>
              <a:spcAft>
                <a:spcPts val="0"/>
              </a:spcAft>
              <a:buNone/>
            </a:pPr>
            <a:r>
              <a:rPr b="0" lang="en-US" sz="1950">
                <a:solidFill>
                  <a:srgbClr val="263238"/>
                </a:solidFill>
                <a:latin typeface="Arial"/>
                <a:ea typeface="Arial"/>
                <a:cs typeface="Arial"/>
                <a:sym typeface="Arial"/>
              </a:rPr>
              <a:t>Estados visibles durante la espera</a:t>
            </a:r>
            <a:endParaRPr/>
          </a:p>
        </p:txBody>
      </p:sp>
      <p:sp>
        <p:nvSpPr>
          <p:cNvPr id="49" name="Google Shape;49;p2"/>
          <p:cNvSpPr/>
          <p:nvPr/>
        </p:nvSpPr>
        <p:spPr>
          <a:xfrm>
            <a:off x="6286500" y="1495425"/>
            <a:ext cx="5238750"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25">
                <a:solidFill>
                  <a:srgbClr val="39A59A"/>
                </a:solidFill>
                <a:latin typeface="Arial"/>
                <a:ea typeface="Arial"/>
                <a:cs typeface="Arial"/>
                <a:sym typeface="Arial"/>
              </a:rPr>
              <a:t>Recorrido en la aplicación</a:t>
            </a:r>
            <a:endParaRPr/>
          </a:p>
        </p:txBody>
      </p:sp>
      <p:sp>
        <p:nvSpPr>
          <p:cNvPr id="50" name="Google Shape;50;p2"/>
          <p:cNvSpPr/>
          <p:nvPr/>
        </p:nvSpPr>
        <p:spPr>
          <a:xfrm>
            <a:off x="6286500" y="2181225"/>
            <a:ext cx="5238750" cy="3381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950">
                <a:solidFill>
                  <a:srgbClr val="263238"/>
                </a:solidFill>
                <a:latin typeface="Arial"/>
                <a:ea typeface="Arial"/>
                <a:cs typeface="Arial"/>
                <a:sym typeface="Arial"/>
              </a:rPr>
              <a:t>01   Acceso e historial del paciente</a:t>
            </a:r>
            <a:endParaRPr/>
          </a:p>
          <a:p>
            <a:pPr indent="0" lvl="0" marL="0" marR="0" rtl="0" algn="l">
              <a:spcBef>
                <a:spcPts val="0"/>
              </a:spcBef>
              <a:spcAft>
                <a:spcPts val="0"/>
              </a:spcAft>
              <a:buNone/>
            </a:pPr>
            <a:r>
              <a:t/>
            </a:r>
            <a:endParaRPr b="0" sz="1950">
              <a:solidFill>
                <a:srgbClr val="263238"/>
              </a:solidFill>
              <a:latin typeface="Arial"/>
              <a:ea typeface="Arial"/>
              <a:cs typeface="Arial"/>
              <a:sym typeface="Arial"/>
            </a:endParaRPr>
          </a:p>
          <a:p>
            <a:pPr indent="0" lvl="0" marL="0" marR="0" rtl="0" algn="l">
              <a:spcBef>
                <a:spcPts val="0"/>
              </a:spcBef>
              <a:spcAft>
                <a:spcPts val="0"/>
              </a:spcAft>
              <a:buNone/>
            </a:pPr>
            <a:r>
              <a:rPr b="0" lang="en-US" sz="1950">
                <a:solidFill>
                  <a:srgbClr val="263238"/>
                </a:solidFill>
                <a:latin typeface="Arial"/>
                <a:ea typeface="Arial"/>
                <a:cs typeface="Arial"/>
                <a:sym typeface="Arial"/>
              </a:rPr>
              <a:t>02   Estado del examen cargado</a:t>
            </a:r>
            <a:endParaRPr/>
          </a:p>
          <a:p>
            <a:pPr indent="0" lvl="0" marL="0" marR="0" rtl="0" algn="l">
              <a:spcBef>
                <a:spcPts val="0"/>
              </a:spcBef>
              <a:spcAft>
                <a:spcPts val="0"/>
              </a:spcAft>
              <a:buNone/>
            </a:pPr>
            <a:r>
              <a:t/>
            </a:r>
            <a:endParaRPr b="0" sz="1950">
              <a:solidFill>
                <a:srgbClr val="263238"/>
              </a:solidFill>
              <a:latin typeface="Arial"/>
              <a:ea typeface="Arial"/>
              <a:cs typeface="Arial"/>
              <a:sym typeface="Arial"/>
            </a:endParaRPr>
          </a:p>
          <a:p>
            <a:pPr indent="0" lvl="0" marL="0" marR="0" rtl="0" algn="l">
              <a:spcBef>
                <a:spcPts val="0"/>
              </a:spcBef>
              <a:spcAft>
                <a:spcPts val="0"/>
              </a:spcAft>
              <a:buNone/>
            </a:pPr>
            <a:r>
              <a:rPr b="0" lang="en-US" sz="1950">
                <a:solidFill>
                  <a:srgbClr val="263238"/>
                </a:solidFill>
                <a:latin typeface="Arial"/>
                <a:ea typeface="Arial"/>
                <a:cs typeface="Arial"/>
                <a:sym typeface="Arial"/>
              </a:rPr>
              <a:t>03   Consulta y revisión profesional</a:t>
            </a:r>
            <a:endParaRPr/>
          </a:p>
          <a:p>
            <a:pPr indent="0" lvl="0" marL="0" marR="0" rtl="0" algn="l">
              <a:spcBef>
                <a:spcPts val="0"/>
              </a:spcBef>
              <a:spcAft>
                <a:spcPts val="0"/>
              </a:spcAft>
              <a:buNone/>
            </a:pPr>
            <a:r>
              <a:t/>
            </a:r>
            <a:endParaRPr b="0" sz="1950">
              <a:solidFill>
                <a:srgbClr val="263238"/>
              </a:solidFill>
              <a:latin typeface="Arial"/>
              <a:ea typeface="Arial"/>
              <a:cs typeface="Arial"/>
              <a:sym typeface="Arial"/>
            </a:endParaRPr>
          </a:p>
          <a:p>
            <a:pPr indent="0" lvl="0" marL="0" marR="0" rtl="0" algn="l">
              <a:spcBef>
                <a:spcPts val="0"/>
              </a:spcBef>
              <a:spcAft>
                <a:spcPts val="0"/>
              </a:spcAft>
              <a:buNone/>
            </a:pPr>
            <a:r>
              <a:rPr b="0" lang="en-US" sz="1950">
                <a:solidFill>
                  <a:srgbClr val="263238"/>
                </a:solidFill>
                <a:latin typeface="Arial"/>
                <a:ea typeface="Arial"/>
                <a:cs typeface="Arial"/>
                <a:sym typeface="Arial"/>
              </a:rPr>
              <a:t>04   Resultados revisados y chat</a:t>
            </a:r>
            <a:endParaRPr/>
          </a:p>
        </p:txBody>
      </p:sp>
      <p:sp>
        <p:nvSpPr>
          <p:cNvPr id="51" name="Google Shape;51;p2"/>
          <p:cNvSpPr/>
          <p:nvPr/>
        </p:nvSpPr>
        <p:spPr>
          <a:xfrm>
            <a:off x="609600" y="5857875"/>
            <a:ext cx="10477500" cy="361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725">
                <a:solidFill>
                  <a:srgbClr val="2867B2"/>
                </a:solidFill>
                <a:latin typeface="Arial"/>
                <a:ea typeface="Arial"/>
                <a:cs typeface="Arial"/>
                <a:sym typeface="Arial"/>
              </a:rPr>
              <a:t>Demostración en vivo con documentos ficticios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 name="Shape 56"/>
        <p:cNvGrpSpPr/>
        <p:nvPr/>
      </p:nvGrpSpPr>
      <p:grpSpPr>
        <a:xfrm>
          <a:off x="0" y="0"/>
          <a:ext cx="0" cy="0"/>
          <a:chOff x="0" y="0"/>
          <a:chExt cx="0" cy="0"/>
        </a:xfrm>
      </p:grpSpPr>
      <p:cxnSp>
        <p:nvCxnSpPr>
          <p:cNvPr id="57" name="Google Shape;57;p3"/>
          <p:cNvCxnSpPr>
            <a:stCxn id="58" idx="1"/>
            <a:endCxn id="59" idx="3"/>
          </p:cNvCxnSpPr>
          <p:nvPr/>
        </p:nvCxnSpPr>
        <p:spPr>
          <a:xfrm rot="10800000">
            <a:off x="7715400" y="4310063"/>
            <a:ext cx="628500" cy="0"/>
          </a:xfrm>
          <a:prstGeom prst="straightConnector1">
            <a:avLst/>
          </a:prstGeom>
          <a:noFill/>
          <a:ln cap="flat" cmpd="sng" w="28575">
            <a:solidFill>
              <a:srgbClr val="39A59A"/>
            </a:solidFill>
            <a:prstDash val="solid"/>
            <a:round/>
            <a:headEnd len="sm" w="sm" type="none"/>
            <a:tailEnd len="med" w="med" type="stealth"/>
          </a:ln>
        </p:spPr>
      </p:cxnSp>
      <p:cxnSp>
        <p:nvCxnSpPr>
          <p:cNvPr id="60" name="Google Shape;60;p3"/>
          <p:cNvCxnSpPr>
            <a:stCxn id="61" idx="2"/>
            <a:endCxn id="58" idx="0"/>
          </p:cNvCxnSpPr>
          <p:nvPr/>
        </p:nvCxnSpPr>
        <p:spPr>
          <a:xfrm>
            <a:off x="9963150" y="2943225"/>
            <a:ext cx="0" cy="676200"/>
          </a:xfrm>
          <a:prstGeom prst="straightConnector1">
            <a:avLst/>
          </a:prstGeom>
          <a:noFill/>
          <a:ln cap="flat" cmpd="sng" w="28575">
            <a:solidFill>
              <a:srgbClr val="39A59A"/>
            </a:solidFill>
            <a:prstDash val="solid"/>
            <a:round/>
            <a:headEnd len="sm" w="sm" type="none"/>
            <a:tailEnd len="med" w="med" type="stealth"/>
          </a:ln>
        </p:spPr>
      </p:cxnSp>
      <p:cxnSp>
        <p:nvCxnSpPr>
          <p:cNvPr id="62" name="Google Shape;62;p3"/>
          <p:cNvCxnSpPr>
            <a:stCxn id="63" idx="3"/>
            <a:endCxn id="61" idx="1"/>
          </p:cNvCxnSpPr>
          <p:nvPr/>
        </p:nvCxnSpPr>
        <p:spPr>
          <a:xfrm>
            <a:off x="7715250" y="2252663"/>
            <a:ext cx="628800" cy="0"/>
          </a:xfrm>
          <a:prstGeom prst="straightConnector1">
            <a:avLst/>
          </a:prstGeom>
          <a:noFill/>
          <a:ln cap="flat" cmpd="sng" w="28575">
            <a:solidFill>
              <a:srgbClr val="39A59A"/>
            </a:solidFill>
            <a:prstDash val="solid"/>
            <a:round/>
            <a:headEnd len="sm" w="sm" type="none"/>
            <a:tailEnd len="med" w="med" type="stealth"/>
          </a:ln>
        </p:spPr>
      </p:cxnSp>
      <p:cxnSp>
        <p:nvCxnSpPr>
          <p:cNvPr id="64" name="Google Shape;64;p3"/>
          <p:cNvCxnSpPr>
            <a:stCxn id="65" idx="3"/>
            <a:endCxn id="63" idx="1"/>
          </p:cNvCxnSpPr>
          <p:nvPr/>
        </p:nvCxnSpPr>
        <p:spPr>
          <a:xfrm>
            <a:off x="3848100" y="2252663"/>
            <a:ext cx="628800" cy="0"/>
          </a:xfrm>
          <a:prstGeom prst="straightConnector1">
            <a:avLst/>
          </a:prstGeom>
          <a:noFill/>
          <a:ln cap="flat" cmpd="sng" w="28575">
            <a:solidFill>
              <a:srgbClr val="39A59A"/>
            </a:solidFill>
            <a:prstDash val="solid"/>
            <a:round/>
            <a:headEnd len="sm" w="sm" type="none"/>
            <a:tailEnd len="med" w="med" type="stealth"/>
          </a:ln>
        </p:spPr>
      </p:cxnSp>
      <p:sp>
        <p:nvSpPr>
          <p:cNvPr id="66" name="Google Shape;66;p3"/>
          <p:cNvSpPr/>
          <p:nvPr/>
        </p:nvSpPr>
        <p:spPr>
          <a:xfrm>
            <a:off x="609600" y="438150"/>
            <a:ext cx="108204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2867B2"/>
                </a:solidFill>
                <a:latin typeface="Arial"/>
                <a:ea typeface="Arial"/>
                <a:cs typeface="Arial"/>
                <a:sym typeface="Arial"/>
              </a:rPr>
              <a:t>Flujo del examen y revisión profesional</a:t>
            </a:r>
            <a:endParaRPr/>
          </a:p>
        </p:txBody>
      </p:sp>
      <p:sp>
        <p:nvSpPr>
          <p:cNvPr id="67" name="Google Shape;67;p3"/>
          <p:cNvSpPr/>
          <p:nvPr/>
        </p:nvSpPr>
        <p:spPr>
          <a:xfrm>
            <a:off x="609600" y="6486525"/>
            <a:ext cx="9906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96B78"/>
                </a:solidFill>
                <a:latin typeface="Arial"/>
                <a:ea typeface="Arial"/>
                <a:cs typeface="Arial"/>
                <a:sym typeface="Arial"/>
              </a:rPr>
              <a:t>Vitalia Health · Avance Fase 2 · 8 de octubre de 2026</a:t>
            </a:r>
            <a:endParaRPr/>
          </a:p>
        </p:txBody>
      </p:sp>
      <p:sp>
        <p:nvSpPr>
          <p:cNvPr id="68" name="Google Shape;68;p3"/>
          <p:cNvSpPr/>
          <p:nvPr/>
        </p:nvSpPr>
        <p:spPr>
          <a:xfrm>
            <a:off x="11239500" y="6486525"/>
            <a:ext cx="33337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96B78"/>
                </a:solidFill>
                <a:latin typeface="Arial"/>
                <a:ea typeface="Arial"/>
                <a:cs typeface="Arial"/>
                <a:sym typeface="Arial"/>
              </a:rPr>
              <a:t>3</a:t>
            </a:r>
            <a:endParaRPr/>
          </a:p>
        </p:txBody>
      </p:sp>
      <p:sp>
        <p:nvSpPr>
          <p:cNvPr id="65" name="Google Shape;65;p3"/>
          <p:cNvSpPr/>
          <p:nvPr/>
        </p:nvSpPr>
        <p:spPr>
          <a:xfrm>
            <a:off x="609600" y="1562100"/>
            <a:ext cx="3238500" cy="1381125"/>
          </a:xfrm>
          <a:prstGeom prst="rect">
            <a:avLst/>
          </a:prstGeom>
          <a:solidFill>
            <a:srgbClr val="EAF2FB"/>
          </a:solidFill>
          <a:ln cap="flat" cmpd="sng" w="9525">
            <a:solidFill>
              <a:srgbClr val="D7E0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800100" y="1733550"/>
            <a:ext cx="2857500"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2867B2"/>
                </a:solidFill>
                <a:latin typeface="Arial"/>
                <a:ea typeface="Arial"/>
                <a:cs typeface="Arial"/>
                <a:sym typeface="Arial"/>
              </a:rPr>
              <a:t>1. Paciente</a:t>
            </a:r>
            <a:endParaRPr/>
          </a:p>
        </p:txBody>
      </p:sp>
      <p:sp>
        <p:nvSpPr>
          <p:cNvPr id="70" name="Google Shape;70;p3"/>
          <p:cNvSpPr/>
          <p:nvPr/>
        </p:nvSpPr>
        <p:spPr>
          <a:xfrm>
            <a:off x="800100" y="2286000"/>
            <a:ext cx="2857500" cy="523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263238"/>
                </a:solidFill>
                <a:latin typeface="Arial"/>
                <a:ea typeface="Arial"/>
                <a:cs typeface="Arial"/>
                <a:sym typeface="Arial"/>
              </a:rPr>
              <a:t>Carga PDF, PNG o JPG</a:t>
            </a:r>
            <a:endParaRPr/>
          </a:p>
        </p:txBody>
      </p:sp>
      <p:sp>
        <p:nvSpPr>
          <p:cNvPr id="63" name="Google Shape;63;p3"/>
          <p:cNvSpPr/>
          <p:nvPr/>
        </p:nvSpPr>
        <p:spPr>
          <a:xfrm>
            <a:off x="4476750" y="1562100"/>
            <a:ext cx="3238500" cy="1381125"/>
          </a:xfrm>
          <a:prstGeom prst="rect">
            <a:avLst/>
          </a:prstGeom>
          <a:solidFill>
            <a:srgbClr val="EAF2FB"/>
          </a:solidFill>
          <a:ln cap="flat" cmpd="sng" w="9525">
            <a:solidFill>
              <a:srgbClr val="D7E0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4667250" y="1733550"/>
            <a:ext cx="2857500"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2867B2"/>
                </a:solidFill>
                <a:latin typeface="Arial"/>
                <a:ea typeface="Arial"/>
                <a:cs typeface="Arial"/>
                <a:sym typeface="Arial"/>
              </a:rPr>
              <a:t>2. Procesamiento</a:t>
            </a:r>
            <a:endParaRPr/>
          </a:p>
        </p:txBody>
      </p:sp>
      <p:sp>
        <p:nvSpPr>
          <p:cNvPr id="72" name="Google Shape;72;p3"/>
          <p:cNvSpPr/>
          <p:nvPr/>
        </p:nvSpPr>
        <p:spPr>
          <a:xfrm>
            <a:off x="4667250" y="2286000"/>
            <a:ext cx="2857500" cy="523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263238"/>
                </a:solidFill>
                <a:latin typeface="Arial"/>
                <a:ea typeface="Arial"/>
                <a:cs typeface="Arial"/>
                <a:sym typeface="Arial"/>
              </a:rPr>
              <a:t>Lectura u OCR y extracción</a:t>
            </a:r>
            <a:endParaRPr/>
          </a:p>
        </p:txBody>
      </p:sp>
      <p:sp>
        <p:nvSpPr>
          <p:cNvPr id="61" name="Google Shape;61;p3"/>
          <p:cNvSpPr/>
          <p:nvPr/>
        </p:nvSpPr>
        <p:spPr>
          <a:xfrm>
            <a:off x="8343900" y="1562100"/>
            <a:ext cx="3238500" cy="1381125"/>
          </a:xfrm>
          <a:prstGeom prst="rect">
            <a:avLst/>
          </a:prstGeom>
          <a:solidFill>
            <a:srgbClr val="EAF2FB"/>
          </a:solidFill>
          <a:ln cap="flat" cmpd="sng" w="9525">
            <a:solidFill>
              <a:srgbClr val="D7E0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8534400" y="1733550"/>
            <a:ext cx="2857500"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2867B2"/>
                </a:solidFill>
                <a:latin typeface="Arial"/>
                <a:ea typeface="Arial"/>
                <a:cs typeface="Arial"/>
                <a:sym typeface="Arial"/>
              </a:rPr>
              <a:t>3. Profesional</a:t>
            </a:r>
            <a:endParaRPr/>
          </a:p>
        </p:txBody>
      </p:sp>
      <p:sp>
        <p:nvSpPr>
          <p:cNvPr id="74" name="Google Shape;74;p3"/>
          <p:cNvSpPr/>
          <p:nvPr/>
        </p:nvSpPr>
        <p:spPr>
          <a:xfrm>
            <a:off x="8534400" y="2286000"/>
            <a:ext cx="2857500" cy="523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263238"/>
                </a:solidFill>
                <a:latin typeface="Arial"/>
                <a:ea typeface="Arial"/>
                <a:cs typeface="Arial"/>
                <a:sym typeface="Arial"/>
              </a:rPr>
              <a:t>Coteja, corrige y aprueba</a:t>
            </a:r>
            <a:endParaRPr/>
          </a:p>
        </p:txBody>
      </p:sp>
      <p:sp>
        <p:nvSpPr>
          <p:cNvPr id="58" name="Google Shape;58;p3"/>
          <p:cNvSpPr/>
          <p:nvPr/>
        </p:nvSpPr>
        <p:spPr>
          <a:xfrm>
            <a:off x="8343900" y="3619500"/>
            <a:ext cx="3238500" cy="1381125"/>
          </a:xfrm>
          <a:prstGeom prst="rect">
            <a:avLst/>
          </a:prstGeom>
          <a:solidFill>
            <a:srgbClr val="EAF2FB"/>
          </a:solidFill>
          <a:ln cap="flat" cmpd="sng" w="9525">
            <a:solidFill>
              <a:srgbClr val="D7E0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8534400" y="3790950"/>
            <a:ext cx="2857500"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2867B2"/>
                </a:solidFill>
                <a:latin typeface="Arial"/>
                <a:ea typeface="Arial"/>
                <a:cs typeface="Arial"/>
                <a:sym typeface="Arial"/>
              </a:rPr>
              <a:t>4. Paciente</a:t>
            </a:r>
            <a:endParaRPr/>
          </a:p>
        </p:txBody>
      </p:sp>
      <p:sp>
        <p:nvSpPr>
          <p:cNvPr id="76" name="Google Shape;76;p3"/>
          <p:cNvSpPr/>
          <p:nvPr/>
        </p:nvSpPr>
        <p:spPr>
          <a:xfrm>
            <a:off x="8534400" y="4343400"/>
            <a:ext cx="2857500" cy="523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263238"/>
                </a:solidFill>
                <a:latin typeface="Arial"/>
                <a:ea typeface="Arial"/>
                <a:cs typeface="Arial"/>
                <a:sym typeface="Arial"/>
              </a:rPr>
              <a:t>Consulta la copia revisada</a:t>
            </a:r>
            <a:endParaRPr/>
          </a:p>
        </p:txBody>
      </p:sp>
      <p:sp>
        <p:nvSpPr>
          <p:cNvPr id="59" name="Google Shape;59;p3"/>
          <p:cNvSpPr/>
          <p:nvPr/>
        </p:nvSpPr>
        <p:spPr>
          <a:xfrm>
            <a:off x="4476750" y="3619500"/>
            <a:ext cx="3238500" cy="1381125"/>
          </a:xfrm>
          <a:prstGeom prst="rect">
            <a:avLst/>
          </a:prstGeom>
          <a:solidFill>
            <a:srgbClr val="EAF2FB"/>
          </a:solidFill>
          <a:ln cap="flat" cmpd="sng" w="9525">
            <a:solidFill>
              <a:srgbClr val="D7E0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4667250" y="3790950"/>
            <a:ext cx="2857500"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2867B2"/>
                </a:solidFill>
                <a:latin typeface="Arial"/>
                <a:ea typeface="Arial"/>
                <a:cs typeface="Arial"/>
                <a:sym typeface="Arial"/>
              </a:rPr>
              <a:t>5. Chat del examen</a:t>
            </a:r>
            <a:endParaRPr/>
          </a:p>
        </p:txBody>
      </p:sp>
      <p:sp>
        <p:nvSpPr>
          <p:cNvPr id="78" name="Google Shape;78;p3"/>
          <p:cNvSpPr/>
          <p:nvPr/>
        </p:nvSpPr>
        <p:spPr>
          <a:xfrm>
            <a:off x="4667250" y="4343400"/>
            <a:ext cx="2857500" cy="523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263238"/>
                </a:solidFill>
                <a:latin typeface="Arial"/>
                <a:ea typeface="Arial"/>
                <a:cs typeface="Arial"/>
                <a:sym typeface="Arial"/>
              </a:rPr>
              <a:t>Responde preguntas acotadas</a:t>
            </a:r>
            <a:endParaRPr/>
          </a:p>
        </p:txBody>
      </p:sp>
      <p:sp>
        <p:nvSpPr>
          <p:cNvPr id="79" name="Google Shape;79;p3"/>
          <p:cNvSpPr/>
          <p:nvPr/>
        </p:nvSpPr>
        <p:spPr>
          <a:xfrm>
            <a:off x="609600" y="3790950"/>
            <a:ext cx="3143250" cy="1095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596B78"/>
                </a:solidFill>
                <a:latin typeface="Arial"/>
                <a:ea typeface="Arial"/>
                <a:cs typeface="Arial"/>
                <a:sym typeface="Arial"/>
              </a:rPr>
              <a:t>Original conservado</a:t>
            </a:r>
            <a:endParaRPr/>
          </a:p>
          <a:p>
            <a:pPr indent="0" lvl="0" marL="0" marR="0" rtl="0" algn="l">
              <a:spcBef>
                <a:spcPts val="0"/>
              </a:spcBef>
              <a:spcAft>
                <a:spcPts val="0"/>
              </a:spcAft>
              <a:buNone/>
            </a:pPr>
            <a:r>
              <a:rPr b="0" lang="en-US" sz="1875">
                <a:solidFill>
                  <a:srgbClr val="596B78"/>
                </a:solidFill>
                <a:latin typeface="Arial"/>
                <a:ea typeface="Arial"/>
                <a:cs typeface="Arial"/>
                <a:sym typeface="Arial"/>
              </a:rPr>
              <a:t>Extracción de IA y revisión</a:t>
            </a:r>
            <a:endParaRPr/>
          </a:p>
          <a:p>
            <a:pPr indent="0" lvl="0" marL="0" marR="0" rtl="0" algn="l">
              <a:spcBef>
                <a:spcPts val="0"/>
              </a:spcBef>
              <a:spcAft>
                <a:spcPts val="0"/>
              </a:spcAft>
              <a:buNone/>
            </a:pPr>
            <a:r>
              <a:rPr b="0" lang="en-US" sz="1875">
                <a:solidFill>
                  <a:srgbClr val="596B78"/>
                </a:solidFill>
                <a:latin typeface="Arial"/>
                <a:ea typeface="Arial"/>
                <a:cs typeface="Arial"/>
                <a:sym typeface="Arial"/>
              </a:rPr>
              <a:t>guardadas por separado</a:t>
            </a:r>
            <a:endParaRPr/>
          </a:p>
        </p:txBody>
      </p:sp>
      <p:sp>
        <p:nvSpPr>
          <p:cNvPr id="80" name="Google Shape;80;p3"/>
          <p:cNvSpPr/>
          <p:nvPr/>
        </p:nvSpPr>
        <p:spPr>
          <a:xfrm>
            <a:off x="609600" y="5619750"/>
            <a:ext cx="1066800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39A59A"/>
                </a:solidFill>
                <a:latin typeface="Arial"/>
                <a:ea typeface="Arial"/>
                <a:cs typeface="Arial"/>
                <a:sym typeface="Arial"/>
              </a:rPr>
              <a:t>La aprobación profesional corresponde a los datos revisados.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 name="Shape 85"/>
        <p:cNvGrpSpPr/>
        <p:nvPr/>
      </p:nvGrpSpPr>
      <p:grpSpPr>
        <a:xfrm>
          <a:off x="0" y="0"/>
          <a:ext cx="0" cy="0"/>
          <a:chOff x="0" y="0"/>
          <a:chExt cx="0" cy="0"/>
        </a:xfrm>
      </p:grpSpPr>
      <p:sp>
        <p:nvSpPr>
          <p:cNvPr id="86" name="Google Shape;86;p4"/>
          <p:cNvSpPr/>
          <p:nvPr/>
        </p:nvSpPr>
        <p:spPr>
          <a:xfrm>
            <a:off x="609600" y="438150"/>
            <a:ext cx="108204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2867B2"/>
                </a:solidFill>
                <a:latin typeface="Arial"/>
                <a:ea typeface="Arial"/>
                <a:cs typeface="Arial"/>
                <a:sym typeface="Arial"/>
              </a:rPr>
              <a:t>Modelo relacional en Data Modeler</a:t>
            </a:r>
            <a:endParaRPr/>
          </a:p>
        </p:txBody>
      </p:sp>
      <p:sp>
        <p:nvSpPr>
          <p:cNvPr id="87" name="Google Shape;87;p4"/>
          <p:cNvSpPr/>
          <p:nvPr/>
        </p:nvSpPr>
        <p:spPr>
          <a:xfrm>
            <a:off x="609600" y="6486525"/>
            <a:ext cx="9906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96B78"/>
                </a:solidFill>
                <a:latin typeface="Arial"/>
                <a:ea typeface="Arial"/>
                <a:cs typeface="Arial"/>
                <a:sym typeface="Arial"/>
              </a:rPr>
              <a:t>Vitalia Health · Avance Fase 2 · 8 de octubre de 2026</a:t>
            </a:r>
            <a:endParaRPr/>
          </a:p>
        </p:txBody>
      </p:sp>
      <p:sp>
        <p:nvSpPr>
          <p:cNvPr id="88" name="Google Shape;88;p4"/>
          <p:cNvSpPr/>
          <p:nvPr/>
        </p:nvSpPr>
        <p:spPr>
          <a:xfrm>
            <a:off x="11239500" y="6486525"/>
            <a:ext cx="33337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96B78"/>
                </a:solidFill>
                <a:latin typeface="Arial"/>
                <a:ea typeface="Arial"/>
                <a:cs typeface="Arial"/>
                <a:sym typeface="Arial"/>
              </a:rPr>
              <a:t>4</a:t>
            </a:r>
            <a:endParaRPr/>
          </a:p>
        </p:txBody>
      </p:sp>
      <p:sp>
        <p:nvSpPr>
          <p:cNvPr id="89" name="Google Shape;89;p4"/>
          <p:cNvSpPr/>
          <p:nvPr/>
        </p:nvSpPr>
        <p:spPr>
          <a:xfrm>
            <a:off x="609600" y="1504950"/>
            <a:ext cx="333375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4800">
                <a:solidFill>
                  <a:srgbClr val="2867B2"/>
                </a:solidFill>
                <a:latin typeface="Arial"/>
                <a:ea typeface="Arial"/>
                <a:cs typeface="Arial"/>
                <a:sym typeface="Arial"/>
              </a:rPr>
              <a:t>17 tablas</a:t>
            </a:r>
            <a:endParaRPr/>
          </a:p>
        </p:txBody>
      </p:sp>
      <p:sp>
        <p:nvSpPr>
          <p:cNvPr id="90" name="Google Shape;90;p4"/>
          <p:cNvSpPr/>
          <p:nvPr/>
        </p:nvSpPr>
        <p:spPr>
          <a:xfrm>
            <a:off x="609600" y="2409825"/>
            <a:ext cx="3333750" cy="1047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325">
                <a:solidFill>
                  <a:srgbClr val="263238"/>
                </a:solidFill>
                <a:latin typeface="Arial"/>
                <a:ea typeface="Arial"/>
                <a:cs typeface="Arial"/>
                <a:sym typeface="Arial"/>
              </a:rPr>
              <a:t>123 columnas</a:t>
            </a:r>
            <a:endParaRPr/>
          </a:p>
          <a:p>
            <a:pPr indent="0" lvl="0" marL="0" marR="0" rtl="0" algn="l">
              <a:spcBef>
                <a:spcPts val="0"/>
              </a:spcBef>
              <a:spcAft>
                <a:spcPts val="0"/>
              </a:spcAft>
              <a:buNone/>
            </a:pPr>
            <a:r>
              <a:rPr b="0" lang="en-US" sz="2325">
                <a:solidFill>
                  <a:srgbClr val="263238"/>
                </a:solidFill>
                <a:latin typeface="Arial"/>
                <a:ea typeface="Arial"/>
                <a:cs typeface="Arial"/>
                <a:sym typeface="Arial"/>
              </a:rPr>
              <a:t>35 claves foráneas</a:t>
            </a:r>
            <a:endParaRPr/>
          </a:p>
        </p:txBody>
      </p:sp>
      <p:sp>
        <p:nvSpPr>
          <p:cNvPr id="91" name="Google Shape;91;p4"/>
          <p:cNvSpPr/>
          <p:nvPr/>
        </p:nvSpPr>
        <p:spPr>
          <a:xfrm>
            <a:off x="609600" y="3752850"/>
            <a:ext cx="3429000" cy="1428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263238"/>
                </a:solidFill>
                <a:latin typeface="Arial"/>
                <a:ea typeface="Arial"/>
                <a:cs typeface="Arial"/>
                <a:sym typeface="Arial"/>
              </a:rPr>
              <a:t>Cuentas y sesiones</a:t>
            </a:r>
            <a:endParaRPr/>
          </a:p>
          <a:p>
            <a:pPr indent="0" lvl="0" marL="0" marR="0" rtl="0" algn="l">
              <a:spcBef>
                <a:spcPts val="0"/>
              </a:spcBef>
              <a:spcAft>
                <a:spcPts val="0"/>
              </a:spcAft>
              <a:buNone/>
            </a:pPr>
            <a:r>
              <a:rPr b="0" lang="en-US" sz="1875">
                <a:solidFill>
                  <a:srgbClr val="263238"/>
                </a:solidFill>
                <a:latin typeface="Arial"/>
                <a:ea typeface="Arial"/>
                <a:cs typeface="Arial"/>
                <a:sym typeface="Arial"/>
              </a:rPr>
              <a:t>Documentos y procesamiento</a:t>
            </a:r>
            <a:endParaRPr/>
          </a:p>
          <a:p>
            <a:pPr indent="0" lvl="0" marL="0" marR="0" rtl="0" algn="l">
              <a:spcBef>
                <a:spcPts val="0"/>
              </a:spcBef>
              <a:spcAft>
                <a:spcPts val="0"/>
              </a:spcAft>
              <a:buNone/>
            </a:pPr>
            <a:r>
              <a:rPr b="0" lang="en-US" sz="1875">
                <a:solidFill>
                  <a:srgbClr val="263238"/>
                </a:solidFill>
                <a:latin typeface="Arial"/>
                <a:ea typeface="Arial"/>
                <a:cs typeface="Arial"/>
                <a:sym typeface="Arial"/>
              </a:rPr>
              <a:t>Revisión, conversación y auditoría</a:t>
            </a:r>
            <a:endParaRPr/>
          </a:p>
        </p:txBody>
      </p:sp>
      <p:pic>
        <p:nvPicPr>
          <p:cNvPr id="92" name="Google Shape;92;p4"/>
          <p:cNvPicPr preferRelativeResize="0"/>
          <p:nvPr/>
        </p:nvPicPr>
        <p:blipFill rotWithShape="1">
          <a:blip r:embed="rId3">
            <a:alphaModFix/>
          </a:blip>
          <a:srcRect b="0" l="0" r="0" t="0"/>
          <a:stretch/>
        </p:blipFill>
        <p:spPr>
          <a:xfrm>
            <a:off x="5029205" y="1447800"/>
            <a:ext cx="5562589" cy="3524250"/>
          </a:xfrm>
          <a:prstGeom prst="rect">
            <a:avLst/>
          </a:prstGeom>
          <a:noFill/>
          <a:ln>
            <a:noFill/>
          </a:ln>
        </p:spPr>
      </p:pic>
      <p:sp>
        <p:nvSpPr>
          <p:cNvPr id="93" name="Google Shape;93;p4"/>
          <p:cNvSpPr/>
          <p:nvPr/>
        </p:nvSpPr>
        <p:spPr>
          <a:xfrm>
            <a:off x="4286250" y="5114925"/>
            <a:ext cx="714375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96B78"/>
                </a:solidFill>
                <a:latin typeface="Arial"/>
                <a:ea typeface="Arial"/>
                <a:cs typeface="Arial"/>
                <a:sym typeface="Arial"/>
              </a:rPr>
              <a:t>Detalle real: cuentas, documentos y procesamiento</a:t>
            </a:r>
            <a:endParaRPr/>
          </a:p>
        </p:txBody>
      </p:sp>
      <p:sp>
        <p:nvSpPr>
          <p:cNvPr id="94" name="Google Shape;94;p4"/>
          <p:cNvSpPr/>
          <p:nvPr/>
        </p:nvSpPr>
        <p:spPr>
          <a:xfrm>
            <a:off x="609600" y="5838825"/>
            <a:ext cx="1095375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96B78"/>
                </a:solidFill>
                <a:latin typeface="Arial"/>
                <a:ea typeface="Arial"/>
                <a:cs typeface="Arial"/>
                <a:sym typeface="Arial"/>
              </a:rPr>
              <a:t>Tipos adaptados para la representación en Oracle Data Modeler.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 name="Shape 99"/>
        <p:cNvGrpSpPr/>
        <p:nvPr/>
      </p:nvGrpSpPr>
      <p:grpSpPr>
        <a:xfrm>
          <a:off x="0" y="0"/>
          <a:ext cx="0" cy="0"/>
          <a:chOff x="0" y="0"/>
          <a:chExt cx="0" cy="0"/>
        </a:xfrm>
      </p:grpSpPr>
      <p:sp>
        <p:nvSpPr>
          <p:cNvPr id="100" name="Google Shape;100;p5"/>
          <p:cNvSpPr/>
          <p:nvPr/>
        </p:nvSpPr>
        <p:spPr>
          <a:xfrm>
            <a:off x="609600" y="438150"/>
            <a:ext cx="108204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2867B2"/>
                </a:solidFill>
                <a:latin typeface="Arial"/>
                <a:ea typeface="Arial"/>
                <a:cs typeface="Arial"/>
                <a:sym typeface="Arial"/>
              </a:rPr>
              <a:t>IA: extracción y preguntas del examen</a:t>
            </a:r>
            <a:endParaRPr/>
          </a:p>
        </p:txBody>
      </p:sp>
      <p:sp>
        <p:nvSpPr>
          <p:cNvPr id="101" name="Google Shape;101;p5"/>
          <p:cNvSpPr/>
          <p:nvPr/>
        </p:nvSpPr>
        <p:spPr>
          <a:xfrm>
            <a:off x="609600" y="6486525"/>
            <a:ext cx="9906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96B78"/>
                </a:solidFill>
                <a:latin typeface="Arial"/>
                <a:ea typeface="Arial"/>
                <a:cs typeface="Arial"/>
                <a:sym typeface="Arial"/>
              </a:rPr>
              <a:t>Vitalia Health · Avance Fase 2 · 8 de octubre de 2026</a:t>
            </a:r>
            <a:endParaRPr/>
          </a:p>
        </p:txBody>
      </p:sp>
      <p:sp>
        <p:nvSpPr>
          <p:cNvPr id="102" name="Google Shape;102;p5"/>
          <p:cNvSpPr/>
          <p:nvPr/>
        </p:nvSpPr>
        <p:spPr>
          <a:xfrm>
            <a:off x="11239500" y="6486525"/>
            <a:ext cx="33337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96B78"/>
                </a:solidFill>
                <a:latin typeface="Arial"/>
                <a:ea typeface="Arial"/>
                <a:cs typeface="Arial"/>
                <a:sym typeface="Arial"/>
              </a:rPr>
              <a:t>5</a:t>
            </a:r>
            <a:endParaRPr/>
          </a:p>
        </p:txBody>
      </p:sp>
      <p:sp>
        <p:nvSpPr>
          <p:cNvPr id="103" name="Google Shape;103;p5"/>
          <p:cNvSpPr/>
          <p:nvPr/>
        </p:nvSpPr>
        <p:spPr>
          <a:xfrm>
            <a:off x="609600" y="1533525"/>
            <a:ext cx="7239000" cy="4381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39A59A"/>
                </a:solidFill>
                <a:latin typeface="Arial"/>
                <a:ea typeface="Arial"/>
                <a:cs typeface="Arial"/>
                <a:sym typeface="Arial"/>
              </a:rPr>
              <a:t>Pregunta sobre el examen</a:t>
            </a:r>
            <a:endParaRPr/>
          </a:p>
        </p:txBody>
      </p:sp>
      <p:sp>
        <p:nvSpPr>
          <p:cNvPr id="104" name="Google Shape;104;p5"/>
          <p:cNvSpPr/>
          <p:nvPr/>
        </p:nvSpPr>
        <p:spPr>
          <a:xfrm>
            <a:off x="609600" y="2085975"/>
            <a:ext cx="106680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550">
                <a:solidFill>
                  <a:srgbClr val="263238"/>
                </a:solidFill>
                <a:latin typeface="Arial"/>
                <a:ea typeface="Arial"/>
                <a:cs typeface="Arial"/>
                <a:sym typeface="Arial"/>
              </a:rPr>
              <a:t>«¿Cuándo fue el examen?»</a:t>
            </a:r>
            <a:endParaRPr/>
          </a:p>
        </p:txBody>
      </p:sp>
      <p:sp>
        <p:nvSpPr>
          <p:cNvPr id="105" name="Google Shape;105;p5"/>
          <p:cNvSpPr/>
          <p:nvPr/>
        </p:nvSpPr>
        <p:spPr>
          <a:xfrm>
            <a:off x="609600" y="2790825"/>
            <a:ext cx="106680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75">
                <a:solidFill>
                  <a:srgbClr val="2867B2"/>
                </a:solidFill>
                <a:latin typeface="Arial"/>
                <a:ea typeface="Arial"/>
                <a:cs typeface="Arial"/>
                <a:sym typeface="Arial"/>
              </a:rPr>
              <a:t>«La fecha registrada en la copia revisada</a:t>
            </a:r>
            <a:endParaRPr/>
          </a:p>
          <a:p>
            <a:pPr indent="0" lvl="0" marL="0" marR="0" rtl="0" algn="l">
              <a:spcBef>
                <a:spcPts val="0"/>
              </a:spcBef>
              <a:spcAft>
                <a:spcPts val="0"/>
              </a:spcAft>
              <a:buNone/>
            </a:pPr>
            <a:r>
              <a:rPr b="0" lang="en-US" sz="2175">
                <a:solidFill>
                  <a:srgbClr val="2867B2"/>
                </a:solidFill>
                <a:latin typeface="Arial"/>
                <a:ea typeface="Arial"/>
                <a:cs typeface="Arial"/>
                <a:sym typeface="Arial"/>
              </a:rPr>
              <a:t>de este examen es 06-10-2026.»</a:t>
            </a:r>
            <a:endParaRPr/>
          </a:p>
        </p:txBody>
      </p:sp>
      <p:sp>
        <p:nvSpPr>
          <p:cNvPr id="106" name="Google Shape;106;p5"/>
          <p:cNvSpPr/>
          <p:nvPr/>
        </p:nvSpPr>
        <p:spPr>
          <a:xfrm>
            <a:off x="609600" y="4038600"/>
            <a:ext cx="72390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39A59A"/>
                </a:solidFill>
                <a:latin typeface="Arial"/>
                <a:ea typeface="Arial"/>
                <a:cs typeface="Arial"/>
                <a:sym typeface="Arial"/>
              </a:rPr>
              <a:t>Pregunta de tratamiento</a:t>
            </a:r>
            <a:endParaRPr/>
          </a:p>
        </p:txBody>
      </p:sp>
      <p:sp>
        <p:nvSpPr>
          <p:cNvPr id="107" name="Google Shape;107;p5"/>
          <p:cNvSpPr/>
          <p:nvPr/>
        </p:nvSpPr>
        <p:spPr>
          <a:xfrm>
            <a:off x="609600" y="4524375"/>
            <a:ext cx="1066800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50">
                <a:solidFill>
                  <a:srgbClr val="263238"/>
                </a:solidFill>
                <a:latin typeface="Arial"/>
                <a:ea typeface="Arial"/>
                <a:cs typeface="Arial"/>
                <a:sym typeface="Arial"/>
              </a:rPr>
              <a:t>«¿Qué dosis debo tomar?»</a:t>
            </a:r>
            <a:endParaRPr/>
          </a:p>
        </p:txBody>
      </p:sp>
      <p:sp>
        <p:nvSpPr>
          <p:cNvPr id="108" name="Google Shape;108;p5"/>
          <p:cNvSpPr/>
          <p:nvPr/>
        </p:nvSpPr>
        <p:spPr>
          <a:xfrm>
            <a:off x="609600" y="5057775"/>
            <a:ext cx="10668000" cy="790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2867B2"/>
                </a:solidFill>
                <a:latin typeface="Arial"/>
                <a:ea typeface="Arial"/>
                <a:cs typeface="Arial"/>
                <a:sym typeface="Arial"/>
              </a:rPr>
              <a:t>«Este asistente no determina enfermedades,</a:t>
            </a:r>
            <a:endParaRPr/>
          </a:p>
          <a:p>
            <a:pPr indent="0" lvl="0" marL="0" marR="0" rtl="0" algn="l">
              <a:spcBef>
                <a:spcPts val="0"/>
              </a:spcBef>
              <a:spcAft>
                <a:spcPts val="0"/>
              </a:spcAft>
              <a:buNone/>
            </a:pPr>
            <a:r>
              <a:rPr b="0" lang="en-US" sz="2025">
                <a:solidFill>
                  <a:srgbClr val="2867B2"/>
                </a:solidFill>
                <a:latin typeface="Arial"/>
                <a:ea typeface="Arial"/>
                <a:cs typeface="Arial"/>
                <a:sym typeface="Arial"/>
              </a:rPr>
              <a:t>prescribe ni recomienda tratamientos.»</a:t>
            </a:r>
            <a:endParaRPr/>
          </a:p>
        </p:txBody>
      </p:sp>
      <p:sp>
        <p:nvSpPr>
          <p:cNvPr id="109" name="Google Shape;109;p5"/>
          <p:cNvSpPr/>
          <p:nvPr/>
        </p:nvSpPr>
        <p:spPr>
          <a:xfrm>
            <a:off x="609600" y="6076950"/>
            <a:ext cx="10858500" cy="2571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96B78"/>
                </a:solidFill>
                <a:latin typeface="Arial"/>
                <a:ea typeface="Arial"/>
                <a:cs typeface="Arial"/>
                <a:sym typeface="Arial"/>
              </a:rPr>
              <a:t>Ejemplos de pruebas comunicadas. Respuestas educativas sin aprobación profesional.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 name="Shape 114"/>
        <p:cNvGrpSpPr/>
        <p:nvPr/>
      </p:nvGrpSpPr>
      <p:grpSpPr>
        <a:xfrm>
          <a:off x="0" y="0"/>
          <a:ext cx="0" cy="0"/>
          <a:chOff x="0" y="0"/>
          <a:chExt cx="0" cy="0"/>
        </a:xfrm>
      </p:grpSpPr>
      <p:sp>
        <p:nvSpPr>
          <p:cNvPr id="115" name="Google Shape;115;p6"/>
          <p:cNvSpPr/>
          <p:nvPr/>
        </p:nvSpPr>
        <p:spPr>
          <a:xfrm>
            <a:off x="609600" y="438150"/>
            <a:ext cx="108204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2867B2"/>
                </a:solidFill>
                <a:latin typeface="Arial"/>
                <a:ea typeface="Arial"/>
                <a:cs typeface="Arial"/>
                <a:sym typeface="Arial"/>
              </a:rPr>
              <a:t>Pruebas y correcciones del avance</a:t>
            </a:r>
            <a:endParaRPr/>
          </a:p>
        </p:txBody>
      </p:sp>
      <p:sp>
        <p:nvSpPr>
          <p:cNvPr id="116" name="Google Shape;116;p6"/>
          <p:cNvSpPr/>
          <p:nvPr/>
        </p:nvSpPr>
        <p:spPr>
          <a:xfrm>
            <a:off x="609600" y="6486525"/>
            <a:ext cx="9906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96B78"/>
                </a:solidFill>
                <a:latin typeface="Arial"/>
                <a:ea typeface="Arial"/>
                <a:cs typeface="Arial"/>
                <a:sym typeface="Arial"/>
              </a:rPr>
              <a:t>Vitalia Health · Avance Fase 2 · 8 de octubre de 2026</a:t>
            </a:r>
            <a:endParaRPr/>
          </a:p>
        </p:txBody>
      </p:sp>
      <p:sp>
        <p:nvSpPr>
          <p:cNvPr id="117" name="Google Shape;117;p6"/>
          <p:cNvSpPr/>
          <p:nvPr/>
        </p:nvSpPr>
        <p:spPr>
          <a:xfrm>
            <a:off x="11239500" y="6486525"/>
            <a:ext cx="33337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96B78"/>
                </a:solidFill>
                <a:latin typeface="Arial"/>
                <a:ea typeface="Arial"/>
                <a:cs typeface="Arial"/>
                <a:sym typeface="Arial"/>
              </a:rPr>
              <a:t>6</a:t>
            </a:r>
            <a:endParaRPr/>
          </a:p>
        </p:txBody>
      </p:sp>
      <p:sp>
        <p:nvSpPr>
          <p:cNvPr id="118" name="Google Shape;118;p6"/>
          <p:cNvSpPr/>
          <p:nvPr/>
        </p:nvSpPr>
        <p:spPr>
          <a:xfrm>
            <a:off x="609600" y="1552575"/>
            <a:ext cx="514350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25">
                <a:solidFill>
                  <a:srgbClr val="39A59A"/>
                </a:solidFill>
                <a:latin typeface="Arial"/>
                <a:ea typeface="Arial"/>
                <a:cs typeface="Arial"/>
                <a:sym typeface="Arial"/>
              </a:rPr>
              <a:t>Evidencia comunicada</a:t>
            </a:r>
            <a:endParaRPr/>
          </a:p>
        </p:txBody>
      </p:sp>
      <p:sp>
        <p:nvSpPr>
          <p:cNvPr id="119" name="Google Shape;119;p6"/>
          <p:cNvSpPr/>
          <p:nvPr/>
        </p:nvSpPr>
        <p:spPr>
          <a:xfrm>
            <a:off x="609600" y="2143125"/>
            <a:ext cx="2238375"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5250">
                <a:solidFill>
                  <a:srgbClr val="2867B2"/>
                </a:solidFill>
                <a:latin typeface="Arial"/>
                <a:ea typeface="Arial"/>
                <a:cs typeface="Arial"/>
                <a:sym typeface="Arial"/>
              </a:rPr>
              <a:t>409</a:t>
            </a:r>
            <a:endParaRPr/>
          </a:p>
        </p:txBody>
      </p:sp>
      <p:sp>
        <p:nvSpPr>
          <p:cNvPr id="120" name="Google Shape;120;p6"/>
          <p:cNvSpPr/>
          <p:nvPr/>
        </p:nvSpPr>
        <p:spPr>
          <a:xfrm>
            <a:off x="609600" y="3038475"/>
            <a:ext cx="4857750" cy="781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950">
                <a:solidFill>
                  <a:srgbClr val="263238"/>
                </a:solidFill>
                <a:latin typeface="Arial"/>
                <a:ea typeface="Arial"/>
                <a:cs typeface="Arial"/>
                <a:sym typeface="Arial"/>
              </a:rPr>
              <a:t>pruebas backend aprobadas</a:t>
            </a:r>
            <a:endParaRPr/>
          </a:p>
          <a:p>
            <a:pPr indent="0" lvl="0" marL="0" marR="0" rtl="0" algn="l">
              <a:spcBef>
                <a:spcPts val="0"/>
              </a:spcBef>
              <a:spcAft>
                <a:spcPts val="0"/>
              </a:spcAft>
              <a:buNone/>
            </a:pPr>
            <a:r>
              <a:rPr b="0" lang="en-US" sz="1950">
                <a:solidFill>
                  <a:srgbClr val="263238"/>
                </a:solidFill>
                <a:latin typeface="Arial"/>
                <a:ea typeface="Arial"/>
                <a:cs typeface="Arial"/>
                <a:sym typeface="Arial"/>
              </a:rPr>
              <a:t>en 40 suites</a:t>
            </a:r>
            <a:endParaRPr/>
          </a:p>
        </p:txBody>
      </p:sp>
      <p:sp>
        <p:nvSpPr>
          <p:cNvPr id="121" name="Google Shape;121;p6"/>
          <p:cNvSpPr/>
          <p:nvPr/>
        </p:nvSpPr>
        <p:spPr>
          <a:xfrm>
            <a:off x="609600" y="4038600"/>
            <a:ext cx="5191125" cy="15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263238"/>
                </a:solidFill>
                <a:latin typeface="Arial"/>
                <a:ea typeface="Arial"/>
                <a:cs typeface="Arial"/>
                <a:sym typeface="Arial"/>
              </a:rPr>
              <a:t>67 pruebas Flutter en un hito previo</a:t>
            </a:r>
            <a:endParaRPr/>
          </a:p>
          <a:p>
            <a:pPr indent="0" lvl="0" marL="0" marR="0" rtl="0" algn="l">
              <a:spcBef>
                <a:spcPts val="0"/>
              </a:spcBef>
              <a:spcAft>
                <a:spcPts val="0"/>
              </a:spcAft>
              <a:buNone/>
            </a:pPr>
            <a:r>
              <a:rPr b="0" lang="en-US" sz="1875">
                <a:solidFill>
                  <a:srgbClr val="263238"/>
                </a:solidFill>
                <a:latin typeface="Arial"/>
                <a:ea typeface="Arial"/>
                <a:cs typeface="Arial"/>
                <a:sym typeface="Arial"/>
              </a:rPr>
              <a:t>Análisis estático sin incidencias</a:t>
            </a:r>
            <a:endParaRPr/>
          </a:p>
          <a:p>
            <a:pPr indent="0" lvl="0" marL="0" marR="0" rtl="0" algn="l">
              <a:spcBef>
                <a:spcPts val="0"/>
              </a:spcBef>
              <a:spcAft>
                <a:spcPts val="0"/>
              </a:spcAft>
              <a:buNone/>
            </a:pPr>
            <a:r>
              <a:t/>
            </a:r>
            <a:endParaRPr b="0" sz="1875">
              <a:solidFill>
                <a:srgbClr val="263238"/>
              </a:solidFill>
              <a:latin typeface="Arial"/>
              <a:ea typeface="Arial"/>
              <a:cs typeface="Arial"/>
              <a:sym typeface="Arial"/>
            </a:endParaRPr>
          </a:p>
          <a:p>
            <a:pPr indent="0" lvl="0" marL="0" marR="0" rtl="0" algn="l">
              <a:spcBef>
                <a:spcPts val="0"/>
              </a:spcBef>
              <a:spcAft>
                <a:spcPts val="0"/>
              </a:spcAft>
              <a:buNone/>
            </a:pPr>
            <a:r>
              <a:rPr b="0" lang="en-US" sz="1875">
                <a:solidFill>
                  <a:srgbClr val="263238"/>
                </a:solidFill>
                <a:latin typeface="Arial"/>
                <a:ea typeface="Arial"/>
                <a:cs typeface="Arial"/>
                <a:sym typeface="Arial"/>
              </a:rPr>
              <a:t>Asistente: 11/11 y 6/6 casos</a:t>
            </a:r>
            <a:endParaRPr/>
          </a:p>
        </p:txBody>
      </p:sp>
      <p:sp>
        <p:nvSpPr>
          <p:cNvPr id="122" name="Google Shape;122;p6"/>
          <p:cNvSpPr/>
          <p:nvPr/>
        </p:nvSpPr>
        <p:spPr>
          <a:xfrm>
            <a:off x="6286500" y="1552575"/>
            <a:ext cx="523875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25">
                <a:solidFill>
                  <a:srgbClr val="39A59A"/>
                </a:solidFill>
                <a:latin typeface="Arial"/>
                <a:ea typeface="Arial"/>
                <a:cs typeface="Arial"/>
                <a:sym typeface="Arial"/>
              </a:rPr>
              <a:t>Problema y ajuste</a:t>
            </a:r>
            <a:endParaRPr/>
          </a:p>
        </p:txBody>
      </p:sp>
      <p:sp>
        <p:nvSpPr>
          <p:cNvPr id="123" name="Google Shape;123;p6"/>
          <p:cNvSpPr/>
          <p:nvPr/>
        </p:nvSpPr>
        <p:spPr>
          <a:xfrm>
            <a:off x="6286500" y="2181225"/>
            <a:ext cx="5238750" cy="3333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263238"/>
                </a:solidFill>
                <a:latin typeface="Arial"/>
                <a:ea typeface="Arial"/>
                <a:cs typeface="Arial"/>
                <a:sym typeface="Arial"/>
              </a:rPr>
              <a:t>Espera de 120 segundos</a:t>
            </a:r>
            <a:endParaRPr/>
          </a:p>
          <a:p>
            <a:pPr indent="0" lvl="0" marL="0" marR="0" rtl="0" algn="l">
              <a:spcBef>
                <a:spcPts val="0"/>
              </a:spcBef>
              <a:spcAft>
                <a:spcPts val="0"/>
              </a:spcAft>
              <a:buNone/>
            </a:pPr>
            <a:r>
              <a:rPr b="0" lang="en-US" sz="1875">
                <a:solidFill>
                  <a:srgbClr val="263238"/>
                </a:solidFill>
                <a:latin typeface="Arial"/>
                <a:ea typeface="Arial"/>
                <a:cs typeface="Arial"/>
                <a:sym typeface="Arial"/>
              </a:rPr>
              <a:t>Extracción por bloques y catálogo educativo</a:t>
            </a:r>
            <a:endParaRPr/>
          </a:p>
          <a:p>
            <a:pPr indent="0" lvl="0" marL="0" marR="0" rtl="0" algn="l">
              <a:spcBef>
                <a:spcPts val="0"/>
              </a:spcBef>
              <a:spcAft>
                <a:spcPts val="0"/>
              </a:spcAft>
              <a:buNone/>
            </a:pPr>
            <a:r>
              <a:t/>
            </a:r>
            <a:endParaRPr b="0" sz="1875">
              <a:solidFill>
                <a:srgbClr val="263238"/>
              </a:solidFill>
              <a:latin typeface="Arial"/>
              <a:ea typeface="Arial"/>
              <a:cs typeface="Arial"/>
              <a:sym typeface="Arial"/>
            </a:endParaRPr>
          </a:p>
          <a:p>
            <a:pPr indent="0" lvl="0" marL="0" marR="0" rtl="0" algn="l">
              <a:spcBef>
                <a:spcPts val="0"/>
              </a:spcBef>
              <a:spcAft>
                <a:spcPts val="0"/>
              </a:spcAft>
              <a:buNone/>
            </a:pPr>
            <a:r>
              <a:rPr b="0" lang="en-US" sz="1875">
                <a:solidFill>
                  <a:srgbClr val="263238"/>
                </a:solidFill>
                <a:latin typeface="Arial"/>
                <a:ea typeface="Arial"/>
                <a:cs typeface="Arial"/>
                <a:sym typeface="Arial"/>
              </a:rPr>
              <a:t>Controles fuera de pantalla</a:t>
            </a:r>
            <a:endParaRPr/>
          </a:p>
          <a:p>
            <a:pPr indent="0" lvl="0" marL="0" marR="0" rtl="0" algn="l">
              <a:spcBef>
                <a:spcPts val="0"/>
              </a:spcBef>
              <a:spcAft>
                <a:spcPts val="0"/>
              </a:spcAft>
              <a:buNone/>
            </a:pPr>
            <a:r>
              <a:rPr b="0" lang="en-US" sz="1875">
                <a:solidFill>
                  <a:srgbClr val="263238"/>
                </a:solidFill>
                <a:latin typeface="Arial"/>
                <a:ea typeface="Arial"/>
                <a:cs typeface="Arial"/>
                <a:sym typeface="Arial"/>
              </a:rPr>
              <a:t>Pruebas con desplazamiento y espera acotada</a:t>
            </a:r>
            <a:endParaRPr/>
          </a:p>
          <a:p>
            <a:pPr indent="0" lvl="0" marL="0" marR="0" rtl="0" algn="l">
              <a:spcBef>
                <a:spcPts val="0"/>
              </a:spcBef>
              <a:spcAft>
                <a:spcPts val="0"/>
              </a:spcAft>
              <a:buNone/>
            </a:pPr>
            <a:r>
              <a:t/>
            </a:r>
            <a:endParaRPr b="0" sz="1875">
              <a:solidFill>
                <a:srgbClr val="263238"/>
              </a:solidFill>
              <a:latin typeface="Arial"/>
              <a:ea typeface="Arial"/>
              <a:cs typeface="Arial"/>
              <a:sym typeface="Arial"/>
            </a:endParaRPr>
          </a:p>
          <a:p>
            <a:pPr indent="0" lvl="0" marL="0" marR="0" rtl="0" algn="l">
              <a:spcBef>
                <a:spcPts val="0"/>
              </a:spcBef>
              <a:spcAft>
                <a:spcPts val="0"/>
              </a:spcAft>
              <a:buNone/>
            </a:pPr>
            <a:r>
              <a:rPr b="0" lang="en-US" sz="1875">
                <a:solidFill>
                  <a:srgbClr val="263238"/>
                </a:solidFill>
                <a:latin typeface="Arial"/>
                <a:ea typeface="Arial"/>
                <a:cs typeface="Arial"/>
                <a:sym typeface="Arial"/>
              </a:rPr>
              <a:t>Campos y referencias incorrectos</a:t>
            </a:r>
            <a:endParaRPr/>
          </a:p>
          <a:p>
            <a:pPr indent="0" lvl="0" marL="0" marR="0" rtl="0" algn="l">
              <a:spcBef>
                <a:spcPts val="0"/>
              </a:spcBef>
              <a:spcAft>
                <a:spcPts val="0"/>
              </a:spcAft>
              <a:buNone/>
            </a:pPr>
            <a:r>
              <a:rPr b="0" lang="en-US" sz="1875">
                <a:solidFill>
                  <a:srgbClr val="263238"/>
                </a:solidFill>
                <a:latin typeface="Arial"/>
                <a:ea typeface="Arial"/>
                <a:cs typeface="Arial"/>
                <a:sym typeface="Arial"/>
              </a:rPr>
              <a:t>Validación de estructura y contexto</a:t>
            </a:r>
            <a:endParaRPr/>
          </a:p>
        </p:txBody>
      </p:sp>
      <p:sp>
        <p:nvSpPr>
          <p:cNvPr id="124" name="Google Shape;124;p6"/>
          <p:cNvSpPr/>
          <p:nvPr/>
        </p:nvSpPr>
        <p:spPr>
          <a:xfrm>
            <a:off x="609600" y="5972175"/>
            <a:ext cx="10858500"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96B78"/>
                </a:solidFill>
                <a:latin typeface="Arial"/>
                <a:ea typeface="Arial"/>
                <a:cs typeface="Arial"/>
                <a:sym typeface="Arial"/>
              </a:rPr>
              <a:t>Estos resultados verifican criterios automáticos. La revisión semántica continúa.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