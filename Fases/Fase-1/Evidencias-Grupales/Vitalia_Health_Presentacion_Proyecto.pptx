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4" d="100"/>
          <a:sy n="84" d="100"/>
        </p:scale>
        <p:origin x="629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3C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ángulo 1">
            <a:extLst>
              <a:ext uri="{FF2B5EF4-FFF2-40B4-BE49-F238E27FC236}">
                <a16:creationId xmlns:a16="http://schemas.microsoft.com/office/drawing/2014/main" id="{885DC04E-36C2-4BC2-9857-2AD87BBA759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6572250" cy="6858000"/>
          </a:xfrm>
          <a:prstGeom prst="rect">
            <a:avLst/>
          </a:prstGeom>
          <a:solidFill>
            <a:srgbClr val="123C4A">
              <a:alpha val="80000"/>
            </a:srgbClr>
          </a:solidFill>
          <a:ln w="0"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1FE1111B-4EF1-4229-874F-2775792CA415}"/>
              </a:ext>
            </a:extLst>
          </p:cNvPr>
          <p:cNvSpPr>
            <a:spLocks noGrp="1"/>
          </p:cNvSpPr>
          <p:nvPr/>
        </p:nvSpPr>
        <p:spPr>
          <a:xfrm>
            <a:off x="666750" y="1000125"/>
            <a:ext cx="5286375" cy="857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39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9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Vitalia Health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728F06DF-CD58-43A1-B361-CD44A6F9C4C7}"/>
              </a:ext>
            </a:extLst>
          </p:cNvPr>
          <p:cNvSpPr>
            <a:spLocks noGrp="1"/>
          </p:cNvSpPr>
          <p:nvPr/>
        </p:nvSpPr>
        <p:spPr>
          <a:xfrm>
            <a:off x="666750" y="1952625"/>
            <a:ext cx="5095875" cy="1143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17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Gestión y análisis asistido</a:t>
            </a:r>
          </a:p>
          <a:p>
            <a:pPr algn="l">
              <a:defRPr sz="217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de exámenes médicos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4788A438-14B7-4D71-BA32-C688F52E2314}"/>
              </a:ext>
            </a:extLst>
          </p:cNvPr>
          <p:cNvSpPr>
            <a:spLocks noGrp="1"/>
          </p:cNvSpPr>
          <p:nvPr/>
        </p:nvSpPr>
        <p:spPr>
          <a:xfrm>
            <a:off x="666750" y="3333750"/>
            <a:ext cx="4762500" cy="809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00" b="0">
                <a:solidFill>
                  <a:srgbClr val="D8F3F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0">
                <a:solidFill>
                  <a:srgbClr val="D8F3F0"/>
                </a:solidFill>
                <a:latin typeface="Bitstream Charter"/>
                <a:ea typeface="Bitstream Charter"/>
                <a:cs typeface="Bitstream Charter"/>
              </a:rPr>
              <a:t>Propuesta de Proyecto APT</a:t>
            </a:r>
          </a:p>
          <a:p>
            <a:pPr algn="l">
              <a:defRPr sz="1500" b="0">
                <a:solidFill>
                  <a:srgbClr val="D8F3F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0">
                <a:solidFill>
                  <a:srgbClr val="D8F3F0"/>
                </a:solidFill>
                <a:latin typeface="Bitstream Charter"/>
                <a:ea typeface="Bitstream Charter"/>
                <a:cs typeface="Bitstream Charter"/>
              </a:rPr>
              <a:t>Grupo N.° 06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93952F31-8677-49D6-B189-A99B13D33ECD}"/>
              </a:ext>
            </a:extLst>
          </p:cNvPr>
          <p:cNvSpPr>
            <a:spLocks noGrp="1"/>
          </p:cNvSpPr>
          <p:nvPr/>
        </p:nvSpPr>
        <p:spPr>
          <a:xfrm>
            <a:off x="666750" y="5810250"/>
            <a:ext cx="4953000" cy="428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Capstone  ·  Ingeniería en Informática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D79A4425-6F43-4EA9-80F3-113CE06655F4}"/>
              </a:ext>
            </a:extLst>
          </p:cNvPr>
          <p:cNvSpPr>
            <a:spLocks noGrp="1"/>
          </p:cNvSpPr>
          <p:nvPr/>
        </p:nvSpPr>
        <p:spPr>
          <a:xfrm>
            <a:off x="628650" y="6429375"/>
            <a:ext cx="1093470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750" b="0">
                <a:solidFill>
                  <a:srgbClr val="D6E8E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750" b="0">
                <a:solidFill>
                  <a:srgbClr val="D6E8E8"/>
                </a:solidFill>
                <a:latin typeface="Bitstream Charter"/>
                <a:ea typeface="Bitstream Charter"/>
                <a:cs typeface="Bitstream Charter"/>
              </a:rPr>
              <a:t>Fuente: Grupo N.° 06 (2026). Imagen: elaboración propia con IA.</a:t>
            </a:r>
          </a:p>
        </p:txBody>
      </p:sp>
    </p:spTree>
    <p:extLst>
      <p:ext uri="{BB962C8B-B14F-4D97-AF65-F5344CB8AC3E}">
        <p14:creationId xmlns:p14="http://schemas.microsoft.com/office/powerpoint/2010/main" val="5859232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ángulo 11">
            <a:extLst>
              <a:ext uri="{FF2B5EF4-FFF2-40B4-BE49-F238E27FC236}">
                <a16:creationId xmlns:a16="http://schemas.microsoft.com/office/drawing/2014/main" id="{F16F9294-7EE4-4987-9CAA-7559210C0738}"/>
              </a:ext>
            </a:extLst>
          </p:cNvPr>
          <p:cNvSpPr>
            <a:spLocks noGrp="1"/>
          </p:cNvSpPr>
          <p:nvPr/>
        </p:nvSpPr>
        <p:spPr>
          <a:xfrm>
            <a:off x="628650" y="333375"/>
            <a:ext cx="10001250" cy="552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400" b="1">
                <a:solidFill>
                  <a:srgbClr val="123C4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400" b="1">
                <a:solidFill>
                  <a:srgbClr val="123C4A"/>
                </a:solidFill>
                <a:latin typeface="Bitstream Charter"/>
                <a:ea typeface="Bitstream Charter"/>
                <a:cs typeface="Bitstream Charter"/>
              </a:rPr>
              <a:t>Necesidad que aborda el proyecto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8FB28801-B260-4A14-8EC4-C27A240418CA}"/>
              </a:ext>
            </a:extLst>
          </p:cNvPr>
          <p:cNvSpPr>
            <a:spLocks noGrp="1"/>
          </p:cNvSpPr>
          <p:nvPr/>
        </p:nvSpPr>
        <p:spPr>
          <a:xfrm>
            <a:off x="11096625" y="361950"/>
            <a:ext cx="476250" cy="333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r">
              <a:defRPr sz="1200" b="1">
                <a:solidFill>
                  <a:srgbClr val="168B8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168B8C"/>
                </a:solidFill>
                <a:latin typeface="Bitstream Charter"/>
                <a:ea typeface="Bitstream Charter"/>
                <a:cs typeface="Bitstream Charter"/>
              </a:rPr>
              <a:t>02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EA93F1DB-175C-470E-AD07-822AA7DAE6B4}"/>
              </a:ext>
            </a:extLst>
          </p:cNvPr>
          <p:cNvSpPr>
            <a:spLocks noGrp="1"/>
          </p:cNvSpPr>
          <p:nvPr/>
        </p:nvSpPr>
        <p:spPr>
          <a:xfrm>
            <a:off x="628650" y="942975"/>
            <a:ext cx="10953750" cy="28575"/>
          </a:xfrm>
          <a:prstGeom prst="rect">
            <a:avLst/>
          </a:prstGeom>
          <a:solidFill>
            <a:srgbClr val="168B8C"/>
          </a:solidFill>
          <a:ln w="0"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8D7364F4-A811-4C36-A451-5BAD2AF2AC56}"/>
              </a:ext>
            </a:extLst>
          </p:cNvPr>
          <p:cNvSpPr>
            <a:spLocks noGrp="1"/>
          </p:cNvSpPr>
          <p:nvPr/>
        </p:nvSpPr>
        <p:spPr>
          <a:xfrm>
            <a:off x="666750" y="1285875"/>
            <a:ext cx="4667250" cy="857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2716"/>
          </a:bodyPr>
          <a:lstStyle/>
          <a:p>
            <a:pPr algn="l">
              <a:defRPr sz="2025" b="1">
                <a:solidFill>
                  <a:srgbClr val="17313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1">
                <a:solidFill>
                  <a:srgbClr val="17313B"/>
                </a:solidFill>
                <a:latin typeface="Bitstream Charter"/>
                <a:ea typeface="Bitstream Charter"/>
                <a:cs typeface="Bitstream Charter"/>
              </a:rPr>
              <a:t>Los exámenes médicos pueden quedar dispersos entre correos, papel y archivos separados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A26FCCBB-82E0-4161-8221-5791CCD172F0}"/>
              </a:ext>
            </a:extLst>
          </p:cNvPr>
          <p:cNvSpPr>
            <a:spLocks noGrp="1"/>
          </p:cNvSpPr>
          <p:nvPr/>
        </p:nvSpPr>
        <p:spPr>
          <a:xfrm>
            <a:off x="666750" y="2428875"/>
            <a:ext cx="4667250" cy="47625"/>
          </a:xfrm>
          <a:prstGeom prst="rect">
            <a:avLst/>
          </a:prstGeom>
          <a:solidFill>
            <a:srgbClr val="168B8C"/>
          </a:solidFill>
          <a:ln w="0"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D52D2D59-7767-4929-8D5D-D18081601E5E}"/>
              </a:ext>
            </a:extLst>
          </p:cNvPr>
          <p:cNvSpPr>
            <a:spLocks noGrp="1"/>
          </p:cNvSpPr>
          <p:nvPr/>
        </p:nvSpPr>
        <p:spPr>
          <a:xfrm>
            <a:off x="666750" y="2714625"/>
            <a:ext cx="4667250" cy="1619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75" b="0">
                <a:solidFill>
                  <a:srgbClr val="52656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0">
                <a:solidFill>
                  <a:srgbClr val="52656B"/>
                </a:solidFill>
                <a:latin typeface="Bitstream Charter"/>
                <a:ea typeface="Bitstream Charter"/>
                <a:cs typeface="Bitstream Charter"/>
              </a:rPr>
              <a:t>Esto dificulta consultar el historial, comparar resultados y mantener trazabilidad sobre accesos o modificaciones.</a:t>
            </a:r>
          </a:p>
        </p:txBody>
      </p:sp>
      <p:pic>
        <p:nvPicPr>
          <p:cNvPr id="18" name="Imagen 17"/>
          <p:cNvPicPr>
            <a:picLocks noChangeAspect="1"/>
          </p:cNvPicPr>
          <p:nvPr/>
        </p:nvPicPr>
        <p:blipFill>
          <a:blip r:embed="rId3"/>
          <a:srcRect t="17000" b="17000"/>
          <a:stretch>
            <a:fillRect/>
          </a:stretch>
        </p:blipFill>
        <p:spPr>
          <a:xfrm>
            <a:off x="6143625" y="1333500"/>
            <a:ext cx="4762500" cy="3143250"/>
          </a:xfrm>
          <a:prstGeom prst="rect">
            <a:avLst/>
          </a:prstGeom>
        </p:spPr>
      </p:pic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BB904A64-250D-4F74-871F-283725A0D5B0}"/>
              </a:ext>
            </a:extLst>
          </p:cNvPr>
          <p:cNvSpPr>
            <a:spLocks noGrp="1"/>
          </p:cNvSpPr>
          <p:nvPr/>
        </p:nvSpPr>
        <p:spPr>
          <a:xfrm>
            <a:off x="6143625" y="4667250"/>
            <a:ext cx="4762500" cy="1095375"/>
          </a:xfrm>
          <a:prstGeom prst="roundRect">
            <a:avLst>
              <a:gd name="adj" fmla="val 6957"/>
            </a:avLst>
          </a:prstGeom>
          <a:solidFill>
            <a:srgbClr val="EAF5F4"/>
          </a:solidFill>
          <a:ln w="9525">
            <a:solidFill>
              <a:srgbClr val="123C4A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8C54AA03-0B57-45B8-9AB2-4F18E9DC96E8}"/>
              </a:ext>
            </a:extLst>
          </p:cNvPr>
          <p:cNvSpPr>
            <a:spLocks noGrp="1"/>
          </p:cNvSpPr>
          <p:nvPr/>
        </p:nvSpPr>
        <p:spPr>
          <a:xfrm>
            <a:off x="6429375" y="4810125"/>
            <a:ext cx="4191000" cy="809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9735"/>
          </a:bodyPr>
          <a:lstStyle/>
          <a:p>
            <a:pPr algn="ctr">
              <a:defRPr sz="1575" b="1">
                <a:solidFill>
                  <a:srgbClr val="123C4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1">
                <a:solidFill>
                  <a:srgbClr val="123C4A"/>
                </a:solidFill>
                <a:latin typeface="Bitstream Charter"/>
                <a:ea typeface="Bitstream Charter"/>
                <a:cs typeface="Bitstream Charter"/>
              </a:rPr>
              <a:t>Necesidad de la cliente: centralizar los documentos y facilitar su comprensión con acceso seguro.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E4AFBCFC-C3B1-4395-AB6F-F37A396CEFC7}"/>
              </a:ext>
            </a:extLst>
          </p:cNvPr>
          <p:cNvSpPr>
            <a:spLocks noGrp="1"/>
          </p:cNvSpPr>
          <p:nvPr/>
        </p:nvSpPr>
        <p:spPr>
          <a:xfrm>
            <a:off x="666750" y="5905500"/>
            <a:ext cx="10191750" cy="333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75" b="1">
                <a:solidFill>
                  <a:srgbClr val="168B8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1">
                <a:solidFill>
                  <a:srgbClr val="168B8C"/>
                </a:solidFill>
                <a:latin typeface="Bitstream Charter"/>
                <a:ea typeface="Bitstream Charter"/>
                <a:cs typeface="Bitstream Charter"/>
              </a:rPr>
              <a:t>Impacto laboral: requisitos, desarrollo, datos, seguridad, pruebas y despliegue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5504125C-D0D1-4A5E-8AE1-154F274C8F99}"/>
              </a:ext>
            </a:extLst>
          </p:cNvPr>
          <p:cNvSpPr>
            <a:spLocks noGrp="1"/>
          </p:cNvSpPr>
          <p:nvPr/>
        </p:nvSpPr>
        <p:spPr>
          <a:xfrm>
            <a:off x="628650" y="6429375"/>
            <a:ext cx="1093470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750" b="0">
                <a:solidFill>
                  <a:srgbClr val="60777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750" b="0">
                <a:solidFill>
                  <a:srgbClr val="60777C"/>
                </a:solidFill>
                <a:latin typeface="Bitstream Charter"/>
                <a:ea typeface="Bitstream Charter"/>
                <a:cs typeface="Bitstream Charter"/>
              </a:rPr>
              <a:t>Fuente: Grupo N.° 06 (2026). Imagen: elaboración propia con IA.</a:t>
            </a:r>
          </a:p>
        </p:txBody>
      </p:sp>
    </p:spTree>
    <p:extLst>
      <p:ext uri="{BB962C8B-B14F-4D97-AF65-F5344CB8AC3E}">
        <p14:creationId xmlns:p14="http://schemas.microsoft.com/office/powerpoint/2010/main" val="9063157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ángulo 23">
            <a:extLst>
              <a:ext uri="{FF2B5EF4-FFF2-40B4-BE49-F238E27FC236}">
                <a16:creationId xmlns:a16="http://schemas.microsoft.com/office/drawing/2014/main" id="{84462BAC-0B5B-493F-BA9E-3E6B209FB3B4}"/>
              </a:ext>
            </a:extLst>
          </p:cNvPr>
          <p:cNvSpPr>
            <a:spLocks noGrp="1"/>
          </p:cNvSpPr>
          <p:nvPr/>
        </p:nvSpPr>
        <p:spPr>
          <a:xfrm>
            <a:off x="628650" y="333375"/>
            <a:ext cx="10001250" cy="552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400" b="1">
                <a:solidFill>
                  <a:srgbClr val="123C4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400" b="1">
                <a:solidFill>
                  <a:srgbClr val="123C4A"/>
                </a:solidFill>
                <a:latin typeface="Bitstream Charter"/>
                <a:ea typeface="Bitstream Charter"/>
                <a:cs typeface="Bitstream Charter"/>
              </a:rPr>
              <a:t>Propuesta de valor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5FA42748-6501-4F1A-82B3-C4FA2D06005A}"/>
              </a:ext>
            </a:extLst>
          </p:cNvPr>
          <p:cNvSpPr>
            <a:spLocks noGrp="1"/>
          </p:cNvSpPr>
          <p:nvPr/>
        </p:nvSpPr>
        <p:spPr>
          <a:xfrm>
            <a:off x="11096625" y="361950"/>
            <a:ext cx="476250" cy="333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r">
              <a:defRPr sz="1200" b="1">
                <a:solidFill>
                  <a:srgbClr val="168B8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168B8C"/>
                </a:solidFill>
                <a:latin typeface="Bitstream Charter"/>
                <a:ea typeface="Bitstream Charter"/>
                <a:cs typeface="Bitstream Charter"/>
              </a:rPr>
              <a:t>03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FC98E69A-621C-4599-9EA3-5E264C986A6B}"/>
              </a:ext>
            </a:extLst>
          </p:cNvPr>
          <p:cNvSpPr>
            <a:spLocks noGrp="1"/>
          </p:cNvSpPr>
          <p:nvPr/>
        </p:nvSpPr>
        <p:spPr>
          <a:xfrm>
            <a:off x="628650" y="942975"/>
            <a:ext cx="10953750" cy="28575"/>
          </a:xfrm>
          <a:prstGeom prst="rect">
            <a:avLst/>
          </a:prstGeom>
          <a:solidFill>
            <a:srgbClr val="168B8C"/>
          </a:solidFill>
          <a:ln w="0"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79A7D0B6-446F-47E3-B6B1-3822A6D02FE9}"/>
              </a:ext>
            </a:extLst>
          </p:cNvPr>
          <p:cNvSpPr>
            <a:spLocks noGrp="1"/>
          </p:cNvSpPr>
          <p:nvPr/>
        </p:nvSpPr>
        <p:spPr>
          <a:xfrm>
            <a:off x="666750" y="1190625"/>
            <a:ext cx="6572250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025" b="1">
                <a:solidFill>
                  <a:srgbClr val="123C4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1">
                <a:solidFill>
                  <a:srgbClr val="123C4A"/>
                </a:solidFill>
                <a:latin typeface="Bitstream Charter"/>
                <a:ea typeface="Bitstream Charter"/>
                <a:cs typeface="Bitstream Charter"/>
              </a:rPr>
              <a:t>Vitalia Health organiza los exámenes y explica sus resultados en lenguaje sencillo</a:t>
            </a:r>
          </a:p>
        </p:txBody>
      </p:sp>
      <p:sp>
        <p:nvSpPr>
          <p:cNvPr id="5" name="Rectángulo: esquinas redondeadas 4">
            <a:extLst>
              <a:ext uri="{FF2B5EF4-FFF2-40B4-BE49-F238E27FC236}">
                <a16:creationId xmlns:a16="http://schemas.microsoft.com/office/drawing/2014/main" id="{94426289-AE10-42D0-B66B-5EB99EDC7C52}"/>
              </a:ext>
            </a:extLst>
          </p:cNvPr>
          <p:cNvSpPr>
            <a:spLocks noGrp="1"/>
          </p:cNvSpPr>
          <p:nvPr/>
        </p:nvSpPr>
        <p:spPr>
          <a:xfrm>
            <a:off x="666750" y="2143125"/>
            <a:ext cx="2857500" cy="1238250"/>
          </a:xfrm>
          <a:prstGeom prst="roundRect">
            <a:avLst>
              <a:gd name="adj" fmla="val 6154"/>
            </a:avLst>
          </a:prstGeom>
          <a:solidFill>
            <a:srgbClr val="F3F7F7"/>
          </a:solidFill>
          <a:ln w="9525">
            <a:solidFill>
              <a:srgbClr val="C7D9D9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F4867C25-59BE-4366-9275-B3647F7CF9B2}"/>
              </a:ext>
            </a:extLst>
          </p:cNvPr>
          <p:cNvSpPr>
            <a:spLocks noGrp="1"/>
          </p:cNvSpPr>
          <p:nvPr/>
        </p:nvSpPr>
        <p:spPr>
          <a:xfrm>
            <a:off x="809625" y="2238375"/>
            <a:ext cx="361950" cy="333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500" b="1">
                <a:solidFill>
                  <a:srgbClr val="168B8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1">
                <a:solidFill>
                  <a:srgbClr val="168B8C"/>
                </a:solidFill>
                <a:latin typeface="Bitstream Charter"/>
                <a:ea typeface="Bitstream Charter"/>
                <a:cs typeface="Bitstream Charter"/>
              </a:rPr>
              <a:t>1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2E7E15AA-8AB0-4885-8A11-F289123E5A4C}"/>
              </a:ext>
            </a:extLst>
          </p:cNvPr>
          <p:cNvSpPr>
            <a:spLocks noGrp="1"/>
          </p:cNvSpPr>
          <p:nvPr/>
        </p:nvSpPr>
        <p:spPr>
          <a:xfrm>
            <a:off x="1219200" y="2257425"/>
            <a:ext cx="209550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6825"/>
          </a:bodyPr>
          <a:lstStyle/>
          <a:p>
            <a:pPr algn="l">
              <a:defRPr sz="1575" b="1">
                <a:solidFill>
                  <a:srgbClr val="123C4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1">
                <a:solidFill>
                  <a:srgbClr val="123C4A"/>
                </a:solidFill>
                <a:latin typeface="Bitstream Charter"/>
                <a:ea typeface="Bitstream Charter"/>
                <a:cs typeface="Bitstream Charter"/>
              </a:rPr>
              <a:t>Centraliza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31470711-01D0-45F3-ACCE-3F7CD936481B}"/>
              </a:ext>
            </a:extLst>
          </p:cNvPr>
          <p:cNvSpPr>
            <a:spLocks noGrp="1"/>
          </p:cNvSpPr>
          <p:nvPr/>
        </p:nvSpPr>
        <p:spPr>
          <a:xfrm>
            <a:off x="857250" y="2695575"/>
            <a:ext cx="247650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200" b="0">
                <a:solidFill>
                  <a:srgbClr val="52656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52656B"/>
                </a:solidFill>
                <a:latin typeface="Bitstream Charter"/>
                <a:ea typeface="Bitstream Charter"/>
                <a:cs typeface="Bitstream Charter"/>
              </a:rPr>
              <a:t>Por paciente, tipo y fecha</a:t>
            </a:r>
          </a:p>
        </p:txBody>
      </p:sp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05ED81B5-3DA6-4C63-85C2-19AEF92AAA5A}"/>
              </a:ext>
            </a:extLst>
          </p:cNvPr>
          <p:cNvSpPr>
            <a:spLocks noGrp="1"/>
          </p:cNvSpPr>
          <p:nvPr/>
        </p:nvSpPr>
        <p:spPr>
          <a:xfrm>
            <a:off x="3857625" y="2143125"/>
            <a:ext cx="2857500" cy="1238250"/>
          </a:xfrm>
          <a:prstGeom prst="roundRect">
            <a:avLst>
              <a:gd name="adj" fmla="val 6154"/>
            </a:avLst>
          </a:prstGeom>
          <a:solidFill>
            <a:srgbClr val="F3F7F7"/>
          </a:solidFill>
          <a:ln w="9525">
            <a:solidFill>
              <a:srgbClr val="C7D9D9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3DD94F34-43B0-43DD-AC5D-662DCFB9B320}"/>
              </a:ext>
            </a:extLst>
          </p:cNvPr>
          <p:cNvSpPr>
            <a:spLocks noGrp="1"/>
          </p:cNvSpPr>
          <p:nvPr/>
        </p:nvSpPr>
        <p:spPr>
          <a:xfrm>
            <a:off x="4000500" y="2238375"/>
            <a:ext cx="361950" cy="333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500" b="1">
                <a:solidFill>
                  <a:srgbClr val="168B8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1">
                <a:solidFill>
                  <a:srgbClr val="168B8C"/>
                </a:solidFill>
                <a:latin typeface="Bitstream Charter"/>
                <a:ea typeface="Bitstream Charter"/>
                <a:cs typeface="Bitstream Charter"/>
              </a:rPr>
              <a:t>2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289B9F43-5AFE-457A-90AA-4E7F6B9C6BDD}"/>
              </a:ext>
            </a:extLst>
          </p:cNvPr>
          <p:cNvSpPr>
            <a:spLocks noGrp="1"/>
          </p:cNvSpPr>
          <p:nvPr/>
        </p:nvSpPr>
        <p:spPr>
          <a:xfrm>
            <a:off x="4410075" y="2257425"/>
            <a:ext cx="209550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6825"/>
          </a:bodyPr>
          <a:lstStyle/>
          <a:p>
            <a:pPr algn="l">
              <a:defRPr sz="1575" b="1">
                <a:solidFill>
                  <a:srgbClr val="123C4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1">
                <a:solidFill>
                  <a:srgbClr val="123C4A"/>
                </a:solidFill>
                <a:latin typeface="Bitstream Charter"/>
                <a:ea typeface="Bitstream Charter"/>
                <a:cs typeface="Bitstream Charter"/>
              </a:rPr>
              <a:t>Extrae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BADC8A3A-C6B7-4A02-A3A0-9DF9FE4487C6}"/>
              </a:ext>
            </a:extLst>
          </p:cNvPr>
          <p:cNvSpPr>
            <a:spLocks noGrp="1"/>
          </p:cNvSpPr>
          <p:nvPr/>
        </p:nvSpPr>
        <p:spPr>
          <a:xfrm>
            <a:off x="4048125" y="2695575"/>
            <a:ext cx="247650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200" b="0">
                <a:solidFill>
                  <a:srgbClr val="52656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52656B"/>
                </a:solidFill>
                <a:latin typeface="Bitstream Charter"/>
                <a:ea typeface="Bitstream Charter"/>
                <a:cs typeface="Bitstream Charter"/>
              </a:rPr>
              <a:t>Campos relevantes del examen</a:t>
            </a:r>
          </a:p>
        </p:txBody>
      </p:sp>
      <p:sp>
        <p:nvSpPr>
          <p:cNvPr id="13" name="Rectángulo: esquinas redondeadas 12">
            <a:extLst>
              <a:ext uri="{FF2B5EF4-FFF2-40B4-BE49-F238E27FC236}">
                <a16:creationId xmlns:a16="http://schemas.microsoft.com/office/drawing/2014/main" id="{2EB6EB9D-149A-46CC-A436-38C1523E3229}"/>
              </a:ext>
            </a:extLst>
          </p:cNvPr>
          <p:cNvSpPr>
            <a:spLocks noGrp="1"/>
          </p:cNvSpPr>
          <p:nvPr/>
        </p:nvSpPr>
        <p:spPr>
          <a:xfrm>
            <a:off x="666750" y="3714750"/>
            <a:ext cx="2857500" cy="1238250"/>
          </a:xfrm>
          <a:prstGeom prst="roundRect">
            <a:avLst>
              <a:gd name="adj" fmla="val 6154"/>
            </a:avLst>
          </a:prstGeom>
          <a:solidFill>
            <a:srgbClr val="DDF2F0"/>
          </a:solidFill>
          <a:ln w="9525">
            <a:solidFill>
              <a:srgbClr val="C7D9D9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BB9CE00E-1214-4EEB-BAF5-5A3749C29EA6}"/>
              </a:ext>
            </a:extLst>
          </p:cNvPr>
          <p:cNvSpPr>
            <a:spLocks noGrp="1"/>
          </p:cNvSpPr>
          <p:nvPr/>
        </p:nvSpPr>
        <p:spPr>
          <a:xfrm>
            <a:off x="809625" y="3810000"/>
            <a:ext cx="361950" cy="333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500" b="1">
                <a:solidFill>
                  <a:srgbClr val="168B8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1">
                <a:solidFill>
                  <a:srgbClr val="168B8C"/>
                </a:solidFill>
                <a:latin typeface="Bitstream Charter"/>
                <a:ea typeface="Bitstream Charter"/>
                <a:cs typeface="Bitstream Charter"/>
              </a:rPr>
              <a:t>3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2A368DC8-FCAF-46D0-B1AE-13BBDD190806}"/>
              </a:ext>
            </a:extLst>
          </p:cNvPr>
          <p:cNvSpPr>
            <a:spLocks noGrp="1"/>
          </p:cNvSpPr>
          <p:nvPr/>
        </p:nvSpPr>
        <p:spPr>
          <a:xfrm>
            <a:off x="1219200" y="3829050"/>
            <a:ext cx="209550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6825"/>
          </a:bodyPr>
          <a:lstStyle/>
          <a:p>
            <a:pPr algn="l">
              <a:defRPr sz="1575" b="1">
                <a:solidFill>
                  <a:srgbClr val="123C4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1">
                <a:solidFill>
                  <a:srgbClr val="123C4A"/>
                </a:solidFill>
                <a:latin typeface="Bitstream Charter"/>
                <a:ea typeface="Bitstream Charter"/>
                <a:cs typeface="Bitstream Charter"/>
              </a:rPr>
              <a:t>Explica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5543AD1D-BD0F-4545-A457-1CF4E2EDBCA4}"/>
              </a:ext>
            </a:extLst>
          </p:cNvPr>
          <p:cNvSpPr>
            <a:spLocks noGrp="1"/>
          </p:cNvSpPr>
          <p:nvPr/>
        </p:nvSpPr>
        <p:spPr>
          <a:xfrm>
            <a:off x="857250" y="4267200"/>
            <a:ext cx="247650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200" b="0">
                <a:solidFill>
                  <a:srgbClr val="52656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52656B"/>
                </a:solidFill>
                <a:latin typeface="Bitstream Charter"/>
                <a:ea typeface="Bitstream Charter"/>
                <a:cs typeface="Bitstream Charter"/>
              </a:rPr>
              <a:t>Resumen comprensible</a:t>
            </a:r>
          </a:p>
        </p:txBody>
      </p:sp>
      <p:sp>
        <p:nvSpPr>
          <p:cNvPr id="17" name="Rectángulo: esquinas redondeadas 16">
            <a:extLst>
              <a:ext uri="{FF2B5EF4-FFF2-40B4-BE49-F238E27FC236}">
                <a16:creationId xmlns:a16="http://schemas.microsoft.com/office/drawing/2014/main" id="{0B31B84B-6CB5-4883-B75C-2A393606321F}"/>
              </a:ext>
            </a:extLst>
          </p:cNvPr>
          <p:cNvSpPr>
            <a:spLocks noGrp="1"/>
          </p:cNvSpPr>
          <p:nvPr/>
        </p:nvSpPr>
        <p:spPr>
          <a:xfrm>
            <a:off x="3857625" y="3714750"/>
            <a:ext cx="2857500" cy="1238250"/>
          </a:xfrm>
          <a:prstGeom prst="roundRect">
            <a:avLst>
              <a:gd name="adj" fmla="val 6154"/>
            </a:avLst>
          </a:prstGeom>
          <a:solidFill>
            <a:srgbClr val="F3F7F7"/>
          </a:solidFill>
          <a:ln w="9525">
            <a:solidFill>
              <a:srgbClr val="C7D9D9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22592FC1-82CF-4538-AF2F-7D9CF1034CDF}"/>
              </a:ext>
            </a:extLst>
          </p:cNvPr>
          <p:cNvSpPr>
            <a:spLocks noGrp="1"/>
          </p:cNvSpPr>
          <p:nvPr/>
        </p:nvSpPr>
        <p:spPr>
          <a:xfrm>
            <a:off x="4000500" y="3810000"/>
            <a:ext cx="361950" cy="333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500" b="1">
                <a:solidFill>
                  <a:srgbClr val="168B8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1">
                <a:solidFill>
                  <a:srgbClr val="168B8C"/>
                </a:solidFill>
                <a:latin typeface="Bitstream Charter"/>
                <a:ea typeface="Bitstream Charter"/>
                <a:cs typeface="Bitstream Charter"/>
              </a:rPr>
              <a:t>4</a:t>
            </a: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49BFCAFB-E4E7-4F7F-8D36-4487A1B0BA27}"/>
              </a:ext>
            </a:extLst>
          </p:cNvPr>
          <p:cNvSpPr>
            <a:spLocks noGrp="1"/>
          </p:cNvSpPr>
          <p:nvPr/>
        </p:nvSpPr>
        <p:spPr>
          <a:xfrm>
            <a:off x="4410075" y="3829050"/>
            <a:ext cx="209550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6825"/>
          </a:bodyPr>
          <a:lstStyle/>
          <a:p>
            <a:pPr algn="l">
              <a:defRPr sz="1575" b="1">
                <a:solidFill>
                  <a:srgbClr val="123C4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1">
                <a:solidFill>
                  <a:srgbClr val="123C4A"/>
                </a:solidFill>
                <a:latin typeface="Bitstream Charter"/>
                <a:ea typeface="Bitstream Charter"/>
                <a:cs typeface="Bitstream Charter"/>
              </a:rPr>
              <a:t>Acompaña</a:t>
            </a: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76FF8ADC-FFFD-4E35-8E7B-9CA12EDE2745}"/>
              </a:ext>
            </a:extLst>
          </p:cNvPr>
          <p:cNvSpPr>
            <a:spLocks noGrp="1"/>
          </p:cNvSpPr>
          <p:nvPr/>
        </p:nvSpPr>
        <p:spPr>
          <a:xfrm>
            <a:off x="4048125" y="4267200"/>
            <a:ext cx="247650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200" b="0">
                <a:solidFill>
                  <a:srgbClr val="52656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52656B"/>
                </a:solidFill>
                <a:latin typeface="Bitstream Charter"/>
                <a:ea typeface="Bitstream Charter"/>
                <a:cs typeface="Bitstream Charter"/>
              </a:rPr>
              <a:t>Consulta informada</a:t>
            </a:r>
          </a:p>
        </p:txBody>
      </p:sp>
      <p:pic>
        <p:nvPicPr>
          <p:cNvPr id="44" name="Imagen 43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7762875" y="1428750"/>
            <a:ext cx="3476625" cy="3476625"/>
          </a:xfrm>
          <a:prstGeom prst="rect">
            <a:avLst/>
          </a:prstGeom>
        </p:spPr>
      </p:pic>
      <p:sp>
        <p:nvSpPr>
          <p:cNvPr id="22" name="Rectángulo 21">
            <a:extLst>
              <a:ext uri="{FF2B5EF4-FFF2-40B4-BE49-F238E27FC236}">
                <a16:creationId xmlns:a16="http://schemas.microsoft.com/office/drawing/2014/main" id="{9A626D1E-97F3-40CE-B814-8DCE3C8B5D6B}"/>
              </a:ext>
            </a:extLst>
          </p:cNvPr>
          <p:cNvSpPr>
            <a:spLocks noGrp="1"/>
          </p:cNvSpPr>
          <p:nvPr/>
        </p:nvSpPr>
        <p:spPr>
          <a:xfrm>
            <a:off x="857250" y="5286375"/>
            <a:ext cx="10382250" cy="495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425" b="1">
                <a:solidFill>
                  <a:srgbClr val="8A3F3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25" b="1">
                <a:solidFill>
                  <a:srgbClr val="8A3F3F"/>
                </a:solidFill>
                <a:latin typeface="Bitstream Charter"/>
                <a:ea typeface="Bitstream Charter"/>
                <a:cs typeface="Bitstream Charter"/>
              </a:rPr>
              <a:t>La IA no diagnostica, no prescribe ni reemplaza la interpretación profesional</a:t>
            </a:r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12289391-B2D5-4C8F-8579-B9001E215556}"/>
              </a:ext>
            </a:extLst>
          </p:cNvPr>
          <p:cNvSpPr>
            <a:spLocks noGrp="1"/>
          </p:cNvSpPr>
          <p:nvPr/>
        </p:nvSpPr>
        <p:spPr>
          <a:xfrm>
            <a:off x="628650" y="6429375"/>
            <a:ext cx="1093470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750" b="0">
                <a:solidFill>
                  <a:srgbClr val="60777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750" b="0">
                <a:solidFill>
                  <a:srgbClr val="60777C"/>
                </a:solidFill>
                <a:latin typeface="Bitstream Charter"/>
                <a:ea typeface="Bitstream Charter"/>
                <a:cs typeface="Bitstream Charter"/>
              </a:rPr>
              <a:t>Fuentes: Grupo N.° 06; OMS (2021). Imagen IA de elaboración propia.</a:t>
            </a:r>
          </a:p>
        </p:txBody>
      </p:sp>
    </p:spTree>
    <p:extLst>
      <p:ext uri="{BB962C8B-B14F-4D97-AF65-F5344CB8AC3E}">
        <p14:creationId xmlns:p14="http://schemas.microsoft.com/office/powerpoint/2010/main" val="12746515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ángulo 28">
            <a:extLst>
              <a:ext uri="{FF2B5EF4-FFF2-40B4-BE49-F238E27FC236}">
                <a16:creationId xmlns:a16="http://schemas.microsoft.com/office/drawing/2014/main" id="{7AE0B65C-559D-4200-B997-EF3B27B0F8DA}"/>
              </a:ext>
            </a:extLst>
          </p:cNvPr>
          <p:cNvSpPr>
            <a:spLocks noGrp="1"/>
          </p:cNvSpPr>
          <p:nvPr/>
        </p:nvSpPr>
        <p:spPr>
          <a:xfrm>
            <a:off x="628650" y="333375"/>
            <a:ext cx="10001250" cy="552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400" b="1">
                <a:solidFill>
                  <a:srgbClr val="123C4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400" b="1">
                <a:solidFill>
                  <a:srgbClr val="123C4A"/>
                </a:solidFill>
                <a:latin typeface="Bitstream Charter"/>
                <a:ea typeface="Bitstream Charter"/>
                <a:cs typeface="Bitstream Charter"/>
              </a:rPr>
              <a:t>Funcionamiento propuesto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1A893651-9E37-4AA3-A641-4D5A2C82D54D}"/>
              </a:ext>
            </a:extLst>
          </p:cNvPr>
          <p:cNvSpPr>
            <a:spLocks noGrp="1"/>
          </p:cNvSpPr>
          <p:nvPr/>
        </p:nvSpPr>
        <p:spPr>
          <a:xfrm>
            <a:off x="11096625" y="361950"/>
            <a:ext cx="476250" cy="333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r">
              <a:defRPr sz="1200" b="1">
                <a:solidFill>
                  <a:srgbClr val="168B8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168B8C"/>
                </a:solidFill>
                <a:latin typeface="Bitstream Charter"/>
                <a:ea typeface="Bitstream Charter"/>
                <a:cs typeface="Bitstream Charter"/>
              </a:rPr>
              <a:t>04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17FC0C80-3641-4BCF-8649-FAE5E8A40545}"/>
              </a:ext>
            </a:extLst>
          </p:cNvPr>
          <p:cNvSpPr>
            <a:spLocks noGrp="1"/>
          </p:cNvSpPr>
          <p:nvPr/>
        </p:nvSpPr>
        <p:spPr>
          <a:xfrm>
            <a:off x="628650" y="942975"/>
            <a:ext cx="10953750" cy="28575"/>
          </a:xfrm>
          <a:prstGeom prst="rect">
            <a:avLst/>
          </a:prstGeom>
          <a:solidFill>
            <a:srgbClr val="168B8C"/>
          </a:solidFill>
          <a:ln w="0"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C07C2C02-20E2-4481-9F30-5A24493BD128}"/>
              </a:ext>
            </a:extLst>
          </p:cNvPr>
          <p:cNvSpPr>
            <a:spLocks noGrp="1"/>
          </p:cNvSpPr>
          <p:nvPr/>
        </p:nvSpPr>
        <p:spPr>
          <a:xfrm>
            <a:off x="904875" y="1333500"/>
            <a:ext cx="4572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65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1</a:t>
            </a:r>
          </a:p>
        </p:txBody>
      </p:sp>
      <p:sp>
        <p:nvSpPr>
          <p:cNvPr id="5" name="Rectángulo: esquinas redondeadas 4">
            <a:extLst>
              <a:ext uri="{FF2B5EF4-FFF2-40B4-BE49-F238E27FC236}">
                <a16:creationId xmlns:a16="http://schemas.microsoft.com/office/drawing/2014/main" id="{282D1548-FD9C-491E-8A6F-15CC855EF962}"/>
              </a:ext>
            </a:extLst>
          </p:cNvPr>
          <p:cNvSpPr>
            <a:spLocks noGrp="1"/>
          </p:cNvSpPr>
          <p:nvPr/>
        </p:nvSpPr>
        <p:spPr>
          <a:xfrm>
            <a:off x="857250" y="1323975"/>
            <a:ext cx="552450" cy="552450"/>
          </a:xfrm>
          <a:prstGeom prst="roundRect">
            <a:avLst>
              <a:gd name="adj" fmla="val 13793"/>
            </a:avLst>
          </a:prstGeom>
          <a:solidFill>
            <a:srgbClr val="168B8C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57A89269-1F6B-4F93-99A6-D4E46F394FDE}"/>
              </a:ext>
            </a:extLst>
          </p:cNvPr>
          <p:cNvSpPr>
            <a:spLocks noGrp="1"/>
          </p:cNvSpPr>
          <p:nvPr/>
        </p:nvSpPr>
        <p:spPr>
          <a:xfrm>
            <a:off x="1714500" y="1314450"/>
            <a:ext cx="2238375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75" b="1">
                <a:solidFill>
                  <a:srgbClr val="123C4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1">
                <a:solidFill>
                  <a:srgbClr val="123C4A"/>
                </a:solidFill>
                <a:latin typeface="Bitstream Charter"/>
                <a:ea typeface="Bitstream Charter"/>
                <a:cs typeface="Bitstream Charter"/>
              </a:rPr>
              <a:t>Carga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C5F81B51-A9F8-406D-82DB-0F7AA58DEC1C}"/>
              </a:ext>
            </a:extLst>
          </p:cNvPr>
          <p:cNvSpPr>
            <a:spLocks noGrp="1"/>
          </p:cNvSpPr>
          <p:nvPr/>
        </p:nvSpPr>
        <p:spPr>
          <a:xfrm>
            <a:off x="4095750" y="1304925"/>
            <a:ext cx="6810375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350" b="0">
                <a:solidFill>
                  <a:srgbClr val="52656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52656B"/>
                </a:solidFill>
                <a:latin typeface="Bitstream Charter"/>
                <a:ea typeface="Bitstream Charter"/>
                <a:cs typeface="Bitstream Charter"/>
              </a:rPr>
              <a:t>Paciente o profesional autorizado adjunta el examen y sus metadatos.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0E79CC43-A23F-4C62-93B5-6912DCFCB7B6}"/>
              </a:ext>
            </a:extLst>
          </p:cNvPr>
          <p:cNvSpPr>
            <a:spLocks noGrp="1"/>
          </p:cNvSpPr>
          <p:nvPr/>
        </p:nvSpPr>
        <p:spPr>
          <a:xfrm>
            <a:off x="1114425" y="1885950"/>
            <a:ext cx="38100" cy="342900"/>
          </a:xfrm>
          <a:prstGeom prst="rect">
            <a:avLst/>
          </a:prstGeom>
          <a:solidFill>
            <a:srgbClr val="C7D9D9"/>
          </a:solidFill>
          <a:ln w="0"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AEEB4676-AB7B-4949-B921-AFC2AC77BD71}"/>
              </a:ext>
            </a:extLst>
          </p:cNvPr>
          <p:cNvSpPr>
            <a:spLocks noGrp="1"/>
          </p:cNvSpPr>
          <p:nvPr/>
        </p:nvSpPr>
        <p:spPr>
          <a:xfrm>
            <a:off x="904875" y="2238375"/>
            <a:ext cx="4572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65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2</a:t>
            </a:r>
          </a:p>
        </p:txBody>
      </p:sp>
      <p:sp>
        <p:nvSpPr>
          <p:cNvPr id="10" name="Rectángulo: esquinas redondeadas 9">
            <a:extLst>
              <a:ext uri="{FF2B5EF4-FFF2-40B4-BE49-F238E27FC236}">
                <a16:creationId xmlns:a16="http://schemas.microsoft.com/office/drawing/2014/main" id="{CD28764A-9E9B-4ED1-ABA0-31F6F4E3F883}"/>
              </a:ext>
            </a:extLst>
          </p:cNvPr>
          <p:cNvSpPr>
            <a:spLocks noGrp="1"/>
          </p:cNvSpPr>
          <p:nvPr/>
        </p:nvSpPr>
        <p:spPr>
          <a:xfrm>
            <a:off x="857250" y="2228850"/>
            <a:ext cx="552450" cy="552450"/>
          </a:xfrm>
          <a:prstGeom prst="roundRect">
            <a:avLst>
              <a:gd name="adj" fmla="val 13793"/>
            </a:avLst>
          </a:prstGeom>
          <a:solidFill>
            <a:srgbClr val="168B8C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49CF7475-5E08-4F67-AA5D-695E245A5D99}"/>
              </a:ext>
            </a:extLst>
          </p:cNvPr>
          <p:cNvSpPr>
            <a:spLocks noGrp="1"/>
          </p:cNvSpPr>
          <p:nvPr/>
        </p:nvSpPr>
        <p:spPr>
          <a:xfrm>
            <a:off x="1714500" y="2219325"/>
            <a:ext cx="2238375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5145"/>
          </a:bodyPr>
          <a:lstStyle/>
          <a:p>
            <a:pPr algn="l">
              <a:defRPr sz="1575" b="1">
                <a:solidFill>
                  <a:srgbClr val="123C4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1">
                <a:solidFill>
                  <a:srgbClr val="123C4A"/>
                </a:solidFill>
                <a:latin typeface="Bitstream Charter"/>
                <a:ea typeface="Bitstream Charter"/>
                <a:cs typeface="Bitstream Charter"/>
              </a:rPr>
              <a:t>Validación y almacenamiento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B1041D2E-49C7-4C9A-B606-2A231AA76B5D}"/>
              </a:ext>
            </a:extLst>
          </p:cNvPr>
          <p:cNvSpPr>
            <a:spLocks noGrp="1"/>
          </p:cNvSpPr>
          <p:nvPr/>
        </p:nvSpPr>
        <p:spPr>
          <a:xfrm>
            <a:off x="4095750" y="2209800"/>
            <a:ext cx="6810375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350" b="0">
                <a:solidFill>
                  <a:srgbClr val="52656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52656B"/>
                </a:solidFill>
                <a:latin typeface="Bitstream Charter"/>
                <a:ea typeface="Bitstream Charter"/>
                <a:cs typeface="Bitstream Charter"/>
              </a:rPr>
              <a:t>La API valida formato y tamaño, aplica permisos y registra el archivo.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32FCCF68-18D7-447F-B7AB-FFABEFEF9425}"/>
              </a:ext>
            </a:extLst>
          </p:cNvPr>
          <p:cNvSpPr>
            <a:spLocks noGrp="1"/>
          </p:cNvSpPr>
          <p:nvPr/>
        </p:nvSpPr>
        <p:spPr>
          <a:xfrm>
            <a:off x="1114425" y="2790825"/>
            <a:ext cx="38100" cy="342900"/>
          </a:xfrm>
          <a:prstGeom prst="rect">
            <a:avLst/>
          </a:prstGeom>
          <a:solidFill>
            <a:srgbClr val="C7D9D9"/>
          </a:solidFill>
          <a:ln w="0"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7A45F9E1-0F9F-48D1-8E24-D5A98A9511B4}"/>
              </a:ext>
            </a:extLst>
          </p:cNvPr>
          <p:cNvSpPr>
            <a:spLocks noGrp="1"/>
          </p:cNvSpPr>
          <p:nvPr/>
        </p:nvSpPr>
        <p:spPr>
          <a:xfrm>
            <a:off x="904875" y="3143250"/>
            <a:ext cx="4572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65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3</a:t>
            </a:r>
          </a:p>
        </p:txBody>
      </p:sp>
      <p:sp>
        <p:nvSpPr>
          <p:cNvPr id="15" name="Rectángulo: esquinas redondeadas 14">
            <a:extLst>
              <a:ext uri="{FF2B5EF4-FFF2-40B4-BE49-F238E27FC236}">
                <a16:creationId xmlns:a16="http://schemas.microsoft.com/office/drawing/2014/main" id="{EFE623D9-4B40-499C-83DF-816FDD4025E7}"/>
              </a:ext>
            </a:extLst>
          </p:cNvPr>
          <p:cNvSpPr>
            <a:spLocks noGrp="1"/>
          </p:cNvSpPr>
          <p:nvPr/>
        </p:nvSpPr>
        <p:spPr>
          <a:xfrm>
            <a:off x="857250" y="3133725"/>
            <a:ext cx="552450" cy="552450"/>
          </a:xfrm>
          <a:prstGeom prst="roundRect">
            <a:avLst>
              <a:gd name="adj" fmla="val 13793"/>
            </a:avLst>
          </a:prstGeom>
          <a:solidFill>
            <a:srgbClr val="168B8C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5998C46B-B3EE-4A97-A323-98EBEC6052C0}"/>
              </a:ext>
            </a:extLst>
          </p:cNvPr>
          <p:cNvSpPr>
            <a:spLocks noGrp="1"/>
          </p:cNvSpPr>
          <p:nvPr/>
        </p:nvSpPr>
        <p:spPr>
          <a:xfrm>
            <a:off x="1714500" y="3124200"/>
            <a:ext cx="2238375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75" b="1">
                <a:solidFill>
                  <a:srgbClr val="123C4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1">
                <a:solidFill>
                  <a:srgbClr val="123C4A"/>
                </a:solidFill>
                <a:latin typeface="Bitstream Charter"/>
                <a:ea typeface="Bitstream Charter"/>
                <a:cs typeface="Bitstream Charter"/>
              </a:rPr>
              <a:t>Análisis asistido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C7AB1CED-05FF-44B5-94EC-0E58622C326D}"/>
              </a:ext>
            </a:extLst>
          </p:cNvPr>
          <p:cNvSpPr>
            <a:spLocks noGrp="1"/>
          </p:cNvSpPr>
          <p:nvPr/>
        </p:nvSpPr>
        <p:spPr>
          <a:xfrm>
            <a:off x="4095750" y="3114675"/>
            <a:ext cx="6810375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350" b="0">
                <a:solidFill>
                  <a:srgbClr val="52656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52656B"/>
                </a:solidFill>
                <a:latin typeface="Bitstream Charter"/>
                <a:ea typeface="Bitstream Charter"/>
                <a:cs typeface="Bitstream Charter"/>
              </a:rPr>
              <a:t>El sistema extrae campos y genera resumen y explicación sencilla.</a:t>
            </a: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8783326B-63C3-41E4-A8AE-1E8CCB13C8D7}"/>
              </a:ext>
            </a:extLst>
          </p:cNvPr>
          <p:cNvSpPr>
            <a:spLocks noGrp="1"/>
          </p:cNvSpPr>
          <p:nvPr/>
        </p:nvSpPr>
        <p:spPr>
          <a:xfrm>
            <a:off x="1114425" y="3695700"/>
            <a:ext cx="38100" cy="342900"/>
          </a:xfrm>
          <a:prstGeom prst="rect">
            <a:avLst/>
          </a:prstGeom>
          <a:solidFill>
            <a:srgbClr val="C7D9D9"/>
          </a:solidFill>
          <a:ln w="0"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894BC3CD-4F79-4E13-ACDE-46F1D72AD33E}"/>
              </a:ext>
            </a:extLst>
          </p:cNvPr>
          <p:cNvSpPr>
            <a:spLocks noGrp="1"/>
          </p:cNvSpPr>
          <p:nvPr/>
        </p:nvSpPr>
        <p:spPr>
          <a:xfrm>
            <a:off x="904875" y="4048125"/>
            <a:ext cx="4572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65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4</a:t>
            </a:r>
          </a:p>
        </p:txBody>
      </p:sp>
      <p:sp>
        <p:nvSpPr>
          <p:cNvPr id="20" name="Rectángulo: esquinas redondeadas 19">
            <a:extLst>
              <a:ext uri="{FF2B5EF4-FFF2-40B4-BE49-F238E27FC236}">
                <a16:creationId xmlns:a16="http://schemas.microsoft.com/office/drawing/2014/main" id="{BCA62495-32CC-4572-8B48-88D3C19EB377}"/>
              </a:ext>
            </a:extLst>
          </p:cNvPr>
          <p:cNvSpPr>
            <a:spLocks noGrp="1"/>
          </p:cNvSpPr>
          <p:nvPr/>
        </p:nvSpPr>
        <p:spPr>
          <a:xfrm>
            <a:off x="857250" y="4038600"/>
            <a:ext cx="552450" cy="552450"/>
          </a:xfrm>
          <a:prstGeom prst="roundRect">
            <a:avLst>
              <a:gd name="adj" fmla="val 13793"/>
            </a:avLst>
          </a:prstGeom>
          <a:solidFill>
            <a:srgbClr val="168B8C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4AE9DDE7-3970-4D42-AABB-B20B88A98F32}"/>
              </a:ext>
            </a:extLst>
          </p:cNvPr>
          <p:cNvSpPr>
            <a:spLocks noGrp="1"/>
          </p:cNvSpPr>
          <p:nvPr/>
        </p:nvSpPr>
        <p:spPr>
          <a:xfrm>
            <a:off x="1714500" y="4029075"/>
            <a:ext cx="2238375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75" b="1">
                <a:solidFill>
                  <a:srgbClr val="123C4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1">
                <a:solidFill>
                  <a:srgbClr val="123C4A"/>
                </a:solidFill>
                <a:latin typeface="Bitstream Charter"/>
                <a:ea typeface="Bitstream Charter"/>
                <a:cs typeface="Bitstream Charter"/>
              </a:rPr>
              <a:t>Consulta e historial</a:t>
            </a:r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A176BE9B-3B7F-426E-B59B-6F4DE0D016C5}"/>
              </a:ext>
            </a:extLst>
          </p:cNvPr>
          <p:cNvSpPr>
            <a:spLocks noGrp="1"/>
          </p:cNvSpPr>
          <p:nvPr/>
        </p:nvSpPr>
        <p:spPr>
          <a:xfrm>
            <a:off x="4095750" y="4019550"/>
            <a:ext cx="6810375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350" b="0">
                <a:solidFill>
                  <a:srgbClr val="52656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52656B"/>
                </a:solidFill>
                <a:latin typeface="Bitstream Charter"/>
                <a:ea typeface="Bitstream Charter"/>
                <a:cs typeface="Bitstream Charter"/>
              </a:rPr>
              <a:t>El usuario revisa el documento y compara resultados compatibles.</a:t>
            </a:r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BE28F3B2-8FA7-41A0-BCE3-A9C5F7EB2B5D}"/>
              </a:ext>
            </a:extLst>
          </p:cNvPr>
          <p:cNvSpPr>
            <a:spLocks noGrp="1"/>
          </p:cNvSpPr>
          <p:nvPr/>
        </p:nvSpPr>
        <p:spPr>
          <a:xfrm>
            <a:off x="1114425" y="4600575"/>
            <a:ext cx="38100" cy="342900"/>
          </a:xfrm>
          <a:prstGeom prst="rect">
            <a:avLst/>
          </a:prstGeom>
          <a:solidFill>
            <a:srgbClr val="C7D9D9"/>
          </a:solidFill>
          <a:ln w="0"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A843BFDD-96F3-469F-B933-94D04287FFE4}"/>
              </a:ext>
            </a:extLst>
          </p:cNvPr>
          <p:cNvSpPr>
            <a:spLocks noGrp="1"/>
          </p:cNvSpPr>
          <p:nvPr/>
        </p:nvSpPr>
        <p:spPr>
          <a:xfrm>
            <a:off x="904875" y="4953000"/>
            <a:ext cx="4572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65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5</a:t>
            </a:r>
          </a:p>
        </p:txBody>
      </p:sp>
      <p:sp>
        <p:nvSpPr>
          <p:cNvPr id="25" name="Rectángulo: esquinas redondeadas 24">
            <a:extLst>
              <a:ext uri="{FF2B5EF4-FFF2-40B4-BE49-F238E27FC236}">
                <a16:creationId xmlns:a16="http://schemas.microsoft.com/office/drawing/2014/main" id="{25113461-FF05-479A-AB67-612EA81945BF}"/>
              </a:ext>
            </a:extLst>
          </p:cNvPr>
          <p:cNvSpPr>
            <a:spLocks noGrp="1"/>
          </p:cNvSpPr>
          <p:nvPr/>
        </p:nvSpPr>
        <p:spPr>
          <a:xfrm>
            <a:off x="857250" y="4943475"/>
            <a:ext cx="552450" cy="552450"/>
          </a:xfrm>
          <a:prstGeom prst="roundRect">
            <a:avLst>
              <a:gd name="adj" fmla="val 13793"/>
            </a:avLst>
          </a:prstGeom>
          <a:solidFill>
            <a:srgbClr val="168B8C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26" name="Rectángulo 25">
            <a:extLst>
              <a:ext uri="{FF2B5EF4-FFF2-40B4-BE49-F238E27FC236}">
                <a16:creationId xmlns:a16="http://schemas.microsoft.com/office/drawing/2014/main" id="{2B587E4E-F2F2-42CA-BDC4-AC7B9820D197}"/>
              </a:ext>
            </a:extLst>
          </p:cNvPr>
          <p:cNvSpPr>
            <a:spLocks noGrp="1"/>
          </p:cNvSpPr>
          <p:nvPr/>
        </p:nvSpPr>
        <p:spPr>
          <a:xfrm>
            <a:off x="1714500" y="4933950"/>
            <a:ext cx="2238375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75" b="1">
                <a:solidFill>
                  <a:srgbClr val="123C4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1">
                <a:solidFill>
                  <a:srgbClr val="123C4A"/>
                </a:solidFill>
                <a:latin typeface="Bitstream Charter"/>
                <a:ea typeface="Bitstream Charter"/>
                <a:cs typeface="Bitstream Charter"/>
              </a:rPr>
              <a:t>Control</a:t>
            </a:r>
          </a:p>
        </p:txBody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C48276ED-CD91-45CA-8938-C61C1B76CC4B}"/>
              </a:ext>
            </a:extLst>
          </p:cNvPr>
          <p:cNvSpPr>
            <a:spLocks noGrp="1"/>
          </p:cNvSpPr>
          <p:nvPr/>
        </p:nvSpPr>
        <p:spPr>
          <a:xfrm>
            <a:off x="4095750" y="4924425"/>
            <a:ext cx="6810375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350" b="0">
                <a:solidFill>
                  <a:srgbClr val="52656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52656B"/>
                </a:solidFill>
                <a:latin typeface="Bitstream Charter"/>
                <a:ea typeface="Bitstream Charter"/>
                <a:cs typeface="Bitstream Charter"/>
              </a:rPr>
              <a:t>La plataforma notifica eventos y audita accesos y modificaciones.</a:t>
            </a:r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DAA80FAE-E369-4067-8407-95D95989FB89}"/>
              </a:ext>
            </a:extLst>
          </p:cNvPr>
          <p:cNvSpPr>
            <a:spLocks noGrp="1"/>
          </p:cNvSpPr>
          <p:nvPr/>
        </p:nvSpPr>
        <p:spPr>
          <a:xfrm>
            <a:off x="628650" y="6429375"/>
            <a:ext cx="1093470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750" b="0">
                <a:solidFill>
                  <a:srgbClr val="60777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750" b="0">
                <a:solidFill>
                  <a:srgbClr val="60777C"/>
                </a:solidFill>
                <a:latin typeface="Bitstream Charter"/>
                <a:ea typeface="Bitstream Charter"/>
                <a:cs typeface="Bitstream Charter"/>
              </a:rPr>
              <a:t>Fuente: elaboración propia a partir de Grupo N.° 06 (2026).</a:t>
            </a:r>
          </a:p>
        </p:txBody>
      </p:sp>
    </p:spTree>
    <p:extLst>
      <p:ext uri="{BB962C8B-B14F-4D97-AF65-F5344CB8AC3E}">
        <p14:creationId xmlns:p14="http://schemas.microsoft.com/office/powerpoint/2010/main" val="11739423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ángulo 19">
            <a:extLst>
              <a:ext uri="{FF2B5EF4-FFF2-40B4-BE49-F238E27FC236}">
                <a16:creationId xmlns:a16="http://schemas.microsoft.com/office/drawing/2014/main" id="{C92BEF28-B4D4-48D6-9493-66FD65532D5B}"/>
              </a:ext>
            </a:extLst>
          </p:cNvPr>
          <p:cNvSpPr>
            <a:spLocks noGrp="1"/>
          </p:cNvSpPr>
          <p:nvPr/>
        </p:nvSpPr>
        <p:spPr>
          <a:xfrm>
            <a:off x="628650" y="333375"/>
            <a:ext cx="10001250" cy="552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400" b="1">
                <a:solidFill>
                  <a:srgbClr val="123C4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400" b="1">
                <a:solidFill>
                  <a:srgbClr val="123C4A"/>
                </a:solidFill>
                <a:latin typeface="Bitstream Charter"/>
                <a:ea typeface="Bitstream Charter"/>
                <a:cs typeface="Bitstream Charter"/>
              </a:rPr>
              <a:t>Competencias y tecnologías base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259A8E62-D8F1-48FC-B6F6-3C16A7FB3CCD}"/>
              </a:ext>
            </a:extLst>
          </p:cNvPr>
          <p:cNvSpPr>
            <a:spLocks noGrp="1"/>
          </p:cNvSpPr>
          <p:nvPr/>
        </p:nvSpPr>
        <p:spPr>
          <a:xfrm>
            <a:off x="11096625" y="361950"/>
            <a:ext cx="476250" cy="333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r">
              <a:defRPr sz="1200" b="1">
                <a:solidFill>
                  <a:srgbClr val="168B8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168B8C"/>
                </a:solidFill>
                <a:latin typeface="Bitstream Charter"/>
                <a:ea typeface="Bitstream Charter"/>
                <a:cs typeface="Bitstream Charter"/>
              </a:rPr>
              <a:t>05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E303566B-422F-483C-B6BE-41CE38F34583}"/>
              </a:ext>
            </a:extLst>
          </p:cNvPr>
          <p:cNvSpPr>
            <a:spLocks noGrp="1"/>
          </p:cNvSpPr>
          <p:nvPr/>
        </p:nvSpPr>
        <p:spPr>
          <a:xfrm>
            <a:off x="628650" y="942975"/>
            <a:ext cx="10953750" cy="28575"/>
          </a:xfrm>
          <a:prstGeom prst="rect">
            <a:avLst/>
          </a:prstGeom>
          <a:solidFill>
            <a:srgbClr val="168B8C"/>
          </a:solidFill>
          <a:ln w="0"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0D52ED76-207E-4884-86DF-C059CD206EC1}"/>
              </a:ext>
            </a:extLst>
          </p:cNvPr>
          <p:cNvSpPr>
            <a:spLocks noGrp="1"/>
          </p:cNvSpPr>
          <p:nvPr/>
        </p:nvSpPr>
        <p:spPr>
          <a:xfrm>
            <a:off x="619125" y="1381125"/>
            <a:ext cx="1762125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350" b="1">
                <a:solidFill>
                  <a:srgbClr val="168B8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1">
                <a:solidFill>
                  <a:srgbClr val="168B8C"/>
                </a:solidFill>
                <a:latin typeface="Bitstream Charter"/>
                <a:ea typeface="Bitstream Charter"/>
                <a:cs typeface="Bitstream Charter"/>
              </a:rPr>
              <a:t>Pruebas y calidad</a:t>
            </a:r>
          </a:p>
        </p:txBody>
      </p:sp>
      <p:sp>
        <p:nvSpPr>
          <p:cNvPr id="5" name="Rectángulo: esquinas redondeadas 4">
            <a:extLst>
              <a:ext uri="{FF2B5EF4-FFF2-40B4-BE49-F238E27FC236}">
                <a16:creationId xmlns:a16="http://schemas.microsoft.com/office/drawing/2014/main" id="{F8C54918-1A0B-47B6-A631-DDD5F8FE5507}"/>
              </a:ext>
            </a:extLst>
          </p:cNvPr>
          <p:cNvSpPr>
            <a:spLocks noGrp="1"/>
          </p:cNvSpPr>
          <p:nvPr/>
        </p:nvSpPr>
        <p:spPr>
          <a:xfrm>
            <a:off x="619125" y="1952625"/>
            <a:ext cx="1762125" cy="2667000"/>
          </a:xfrm>
          <a:prstGeom prst="roundRect">
            <a:avLst>
              <a:gd name="adj" fmla="val 4324"/>
            </a:avLst>
          </a:prstGeom>
          <a:solidFill>
            <a:srgbClr val="F4F7F7"/>
          </a:solidFill>
          <a:ln w="9525">
            <a:solidFill>
              <a:srgbClr val="C7D9D9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E1834E80-7CE7-4602-9098-222A3BBC2520}"/>
              </a:ext>
            </a:extLst>
          </p:cNvPr>
          <p:cNvSpPr>
            <a:spLocks noGrp="1"/>
          </p:cNvSpPr>
          <p:nvPr/>
        </p:nvSpPr>
        <p:spPr>
          <a:xfrm>
            <a:off x="752475" y="2190750"/>
            <a:ext cx="1495425" cy="2095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275" b="0">
                <a:solidFill>
                  <a:srgbClr val="123C4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123C4A"/>
                </a:solidFill>
                <a:latin typeface="Bitstream Charter"/>
                <a:ea typeface="Bitstream Charter"/>
                <a:cs typeface="Bitstream Charter"/>
              </a:rPr>
              <a:t>Jest y Supertest</a:t>
            </a:r>
          </a:p>
          <a:p>
            <a:pPr algn="ctr">
              <a:defRPr sz="1275" b="0">
                <a:solidFill>
                  <a:srgbClr val="123C4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123C4A"/>
                </a:solidFill>
                <a:latin typeface="Bitstream Charter"/>
                <a:ea typeface="Bitstream Charter"/>
                <a:cs typeface="Bitstream Charter"/>
              </a:rPr>
              <a:t>API, seguridad e IA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51D21BDC-296F-41D2-95A2-6C3683A63A18}"/>
              </a:ext>
            </a:extLst>
          </p:cNvPr>
          <p:cNvSpPr>
            <a:spLocks noGrp="1"/>
          </p:cNvSpPr>
          <p:nvPr/>
        </p:nvSpPr>
        <p:spPr>
          <a:xfrm>
            <a:off x="2571750" y="1381125"/>
            <a:ext cx="1762125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6269"/>
          </a:bodyPr>
          <a:lstStyle/>
          <a:p>
            <a:pPr algn="ctr">
              <a:defRPr sz="1350" b="1">
                <a:solidFill>
                  <a:srgbClr val="168B8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1">
                <a:solidFill>
                  <a:srgbClr val="168B8C"/>
                </a:solidFill>
                <a:latin typeface="Bitstream Charter"/>
                <a:ea typeface="Bitstream Charter"/>
                <a:cs typeface="Bitstream Charter"/>
              </a:rPr>
              <a:t>Gestión del proyecto</a:t>
            </a:r>
          </a:p>
        </p:txBody>
      </p:sp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E1747E45-3CF1-4436-84E6-9F5CAF92F1DC}"/>
              </a:ext>
            </a:extLst>
          </p:cNvPr>
          <p:cNvSpPr>
            <a:spLocks noGrp="1"/>
          </p:cNvSpPr>
          <p:nvPr/>
        </p:nvSpPr>
        <p:spPr>
          <a:xfrm>
            <a:off x="2571750" y="1952625"/>
            <a:ext cx="1762125" cy="2667000"/>
          </a:xfrm>
          <a:prstGeom prst="roundRect">
            <a:avLst>
              <a:gd name="adj" fmla="val 4324"/>
            </a:avLst>
          </a:prstGeom>
          <a:solidFill>
            <a:srgbClr val="EAF5F4"/>
          </a:solidFill>
          <a:ln w="9525">
            <a:solidFill>
              <a:srgbClr val="C7D9D9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9F371DB0-A3CE-46B8-A247-1993C2E40C1D}"/>
              </a:ext>
            </a:extLst>
          </p:cNvPr>
          <p:cNvSpPr>
            <a:spLocks noGrp="1"/>
          </p:cNvSpPr>
          <p:nvPr/>
        </p:nvSpPr>
        <p:spPr>
          <a:xfrm>
            <a:off x="2705100" y="2190750"/>
            <a:ext cx="1495425" cy="2095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275" b="0">
                <a:solidFill>
                  <a:srgbClr val="123C4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123C4A"/>
                </a:solidFill>
                <a:latin typeface="Bitstream Charter"/>
                <a:ea typeface="Bitstream Charter"/>
                <a:cs typeface="Bitstream Charter"/>
              </a:rPr>
              <a:t>Scrum adaptado</a:t>
            </a:r>
          </a:p>
          <a:p>
            <a:pPr algn="ctr">
              <a:defRPr sz="1275" b="0">
                <a:solidFill>
                  <a:srgbClr val="123C4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123C4A"/>
                </a:solidFill>
                <a:latin typeface="Bitstream Charter"/>
                <a:ea typeface="Bitstream Charter"/>
                <a:cs typeface="Bitstream Charter"/>
              </a:rPr>
              <a:t>Backlog, hitos y riesgos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76387EB4-453A-482A-ABF3-0CBEEE57D05B}"/>
              </a:ext>
            </a:extLst>
          </p:cNvPr>
          <p:cNvSpPr>
            <a:spLocks noGrp="1"/>
          </p:cNvSpPr>
          <p:nvPr/>
        </p:nvSpPr>
        <p:spPr>
          <a:xfrm>
            <a:off x="4524375" y="1381125"/>
            <a:ext cx="1762125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350" b="1">
                <a:solidFill>
                  <a:srgbClr val="168B8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1">
                <a:solidFill>
                  <a:srgbClr val="168B8C"/>
                </a:solidFill>
                <a:latin typeface="Bitstream Charter"/>
                <a:ea typeface="Bitstream Charter"/>
                <a:cs typeface="Bitstream Charter"/>
              </a:rPr>
              <a:t>Modelos de datos</a:t>
            </a:r>
          </a:p>
        </p:txBody>
      </p:sp>
      <p:sp>
        <p:nvSpPr>
          <p:cNvPr id="11" name="Rectángulo: esquinas redondeadas 10">
            <a:extLst>
              <a:ext uri="{FF2B5EF4-FFF2-40B4-BE49-F238E27FC236}">
                <a16:creationId xmlns:a16="http://schemas.microsoft.com/office/drawing/2014/main" id="{B0821720-4C62-4996-860B-12B3A9A16B1E}"/>
              </a:ext>
            </a:extLst>
          </p:cNvPr>
          <p:cNvSpPr>
            <a:spLocks noGrp="1"/>
          </p:cNvSpPr>
          <p:nvPr/>
        </p:nvSpPr>
        <p:spPr>
          <a:xfrm>
            <a:off x="4524375" y="1952625"/>
            <a:ext cx="1762125" cy="2667000"/>
          </a:xfrm>
          <a:prstGeom prst="roundRect">
            <a:avLst>
              <a:gd name="adj" fmla="val 4324"/>
            </a:avLst>
          </a:prstGeom>
          <a:solidFill>
            <a:srgbClr val="F4F7F7"/>
          </a:solidFill>
          <a:ln w="9525">
            <a:solidFill>
              <a:srgbClr val="C7D9D9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82B87EBC-8EAC-492F-B971-23D09544A902}"/>
              </a:ext>
            </a:extLst>
          </p:cNvPr>
          <p:cNvSpPr>
            <a:spLocks noGrp="1"/>
          </p:cNvSpPr>
          <p:nvPr/>
        </p:nvSpPr>
        <p:spPr>
          <a:xfrm>
            <a:off x="4657725" y="2190750"/>
            <a:ext cx="1495425" cy="2095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275" b="0">
                <a:solidFill>
                  <a:srgbClr val="123C4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123C4A"/>
                </a:solidFill>
                <a:latin typeface="Bitstream Charter"/>
                <a:ea typeface="Bitstream Charter"/>
                <a:cs typeface="Bitstream Charter"/>
              </a:rPr>
              <a:t>PostgreSQL 16</a:t>
            </a:r>
          </a:p>
          <a:p>
            <a:pPr algn="ctr">
              <a:defRPr sz="1275" b="0">
                <a:solidFill>
                  <a:srgbClr val="123C4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123C4A"/>
                </a:solidFill>
                <a:latin typeface="Bitstream Charter"/>
                <a:ea typeface="Bitstream Charter"/>
                <a:cs typeface="Bitstream Charter"/>
              </a:rPr>
              <a:t>MinIO o S3</a:t>
            </a:r>
          </a:p>
          <a:p>
            <a:pPr algn="ctr">
              <a:defRPr sz="1275" b="0">
                <a:solidFill>
                  <a:srgbClr val="123C4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123C4A"/>
                </a:solidFill>
                <a:latin typeface="Bitstream Charter"/>
                <a:ea typeface="Bitstream Charter"/>
                <a:cs typeface="Bitstream Charter"/>
              </a:rPr>
              <a:t>Migraciones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FBB10BB7-9371-48DD-9046-6F2676290718}"/>
              </a:ext>
            </a:extLst>
          </p:cNvPr>
          <p:cNvSpPr>
            <a:spLocks noGrp="1"/>
          </p:cNvSpPr>
          <p:nvPr/>
        </p:nvSpPr>
        <p:spPr>
          <a:xfrm>
            <a:off x="6477000" y="1381125"/>
            <a:ext cx="1762125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5836"/>
          </a:bodyPr>
          <a:lstStyle/>
          <a:p>
            <a:pPr algn="ctr">
              <a:defRPr sz="1350" b="1">
                <a:solidFill>
                  <a:srgbClr val="168B8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1">
                <a:solidFill>
                  <a:srgbClr val="168B8C"/>
                </a:solidFill>
                <a:latin typeface="Bitstream Charter"/>
                <a:ea typeface="Bitstream Charter"/>
                <a:cs typeface="Bitstream Charter"/>
              </a:rPr>
              <a:t>Desarrollo integrado</a:t>
            </a:r>
          </a:p>
        </p:txBody>
      </p:sp>
      <p:sp>
        <p:nvSpPr>
          <p:cNvPr id="14" name="Rectángulo: esquinas redondeadas 13">
            <a:extLst>
              <a:ext uri="{FF2B5EF4-FFF2-40B4-BE49-F238E27FC236}">
                <a16:creationId xmlns:a16="http://schemas.microsoft.com/office/drawing/2014/main" id="{B58FE408-F34A-465F-979D-FAC77228ECEC}"/>
              </a:ext>
            </a:extLst>
          </p:cNvPr>
          <p:cNvSpPr>
            <a:spLocks noGrp="1"/>
          </p:cNvSpPr>
          <p:nvPr/>
        </p:nvSpPr>
        <p:spPr>
          <a:xfrm>
            <a:off x="6477000" y="1952625"/>
            <a:ext cx="1762125" cy="2667000"/>
          </a:xfrm>
          <a:prstGeom prst="roundRect">
            <a:avLst>
              <a:gd name="adj" fmla="val 4324"/>
            </a:avLst>
          </a:prstGeom>
          <a:solidFill>
            <a:srgbClr val="EAF5F4"/>
          </a:solidFill>
          <a:ln w="9525">
            <a:solidFill>
              <a:srgbClr val="C7D9D9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4456F1BB-7BB1-44BE-A433-C587EEDC99C4}"/>
              </a:ext>
            </a:extLst>
          </p:cNvPr>
          <p:cNvSpPr>
            <a:spLocks noGrp="1"/>
          </p:cNvSpPr>
          <p:nvPr/>
        </p:nvSpPr>
        <p:spPr>
          <a:xfrm>
            <a:off x="6610350" y="2190750"/>
            <a:ext cx="1495425" cy="2095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275" b="0">
                <a:solidFill>
                  <a:srgbClr val="123C4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123C4A"/>
                </a:solidFill>
                <a:latin typeface="Bitstream Charter"/>
                <a:ea typeface="Bitstream Charter"/>
                <a:cs typeface="Bitstream Charter"/>
              </a:rPr>
              <a:t>Flutter y Dart</a:t>
            </a:r>
          </a:p>
          <a:p>
            <a:pPr algn="ctr">
              <a:defRPr sz="1275" b="0">
                <a:solidFill>
                  <a:srgbClr val="123C4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123C4A"/>
                </a:solidFill>
                <a:latin typeface="Bitstream Charter"/>
                <a:ea typeface="Bitstream Charter"/>
                <a:cs typeface="Bitstream Charter"/>
              </a:rPr>
              <a:t>Node.js y TypeScript</a:t>
            </a:r>
          </a:p>
          <a:p>
            <a:pPr algn="ctr">
              <a:defRPr sz="1275" b="0">
                <a:solidFill>
                  <a:srgbClr val="123C4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123C4A"/>
                </a:solidFill>
                <a:latin typeface="Bitstream Charter"/>
                <a:ea typeface="Bitstream Charter"/>
                <a:cs typeface="Bitstream Charter"/>
              </a:rPr>
              <a:t>JWT, Zod y OpenAPI</a:t>
            </a:r>
          </a:p>
        </p:txBody>
      </p:sp>
      <p:pic>
        <p:nvPicPr>
          <p:cNvPr id="35" name="Imagen 34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8810625" y="1428750"/>
            <a:ext cx="2667000" cy="2667000"/>
          </a:xfrm>
          <a:prstGeom prst="rect">
            <a:avLst/>
          </a:prstGeom>
        </p:spPr>
      </p:pic>
      <p:sp>
        <p:nvSpPr>
          <p:cNvPr id="17" name="Rectángulo 16">
            <a:extLst>
              <a:ext uri="{FF2B5EF4-FFF2-40B4-BE49-F238E27FC236}">
                <a16:creationId xmlns:a16="http://schemas.microsoft.com/office/drawing/2014/main" id="{AE268DB4-405D-4AB5-85D7-8198EBCA71CA}"/>
              </a:ext>
            </a:extLst>
          </p:cNvPr>
          <p:cNvSpPr>
            <a:spLocks noGrp="1"/>
          </p:cNvSpPr>
          <p:nvPr/>
        </p:nvSpPr>
        <p:spPr>
          <a:xfrm>
            <a:off x="8858250" y="4286250"/>
            <a:ext cx="2571750" cy="666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275" b="1">
                <a:solidFill>
                  <a:srgbClr val="123C4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1">
                <a:solidFill>
                  <a:srgbClr val="123C4A"/>
                </a:solidFill>
                <a:latin typeface="Bitstream Charter"/>
                <a:ea typeface="Bitstream Charter"/>
                <a:cs typeface="Bitstream Charter"/>
              </a:rPr>
              <a:t>Integración móvil, web, API, datos y almacenamiento</a:t>
            </a: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15239BC5-0190-4AF3-9700-D2E6F48BCA9D}"/>
              </a:ext>
            </a:extLst>
          </p:cNvPr>
          <p:cNvSpPr>
            <a:spLocks noGrp="1"/>
          </p:cNvSpPr>
          <p:nvPr/>
        </p:nvSpPr>
        <p:spPr>
          <a:xfrm>
            <a:off x="857250" y="5334000"/>
            <a:ext cx="10477500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275" b="1">
                <a:solidFill>
                  <a:srgbClr val="123C4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1">
                <a:solidFill>
                  <a:srgbClr val="123C4A"/>
                </a:solidFill>
                <a:latin typeface="Bitstream Charter"/>
                <a:ea typeface="Bitstream Charter"/>
                <a:cs typeface="Bitstream Charter"/>
              </a:rPr>
              <a:t>Se mantiene el stack propuesto. Cualquier cambio exige una limitación comprobable y validación con la cliente.</a:t>
            </a: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ACF1DB1C-08A2-42AF-A063-507C2CCC6D89}"/>
              </a:ext>
            </a:extLst>
          </p:cNvPr>
          <p:cNvSpPr>
            <a:spLocks noGrp="1"/>
          </p:cNvSpPr>
          <p:nvPr/>
        </p:nvSpPr>
        <p:spPr>
          <a:xfrm>
            <a:off x="628650" y="6429375"/>
            <a:ext cx="1093470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750" b="0">
                <a:solidFill>
                  <a:srgbClr val="60777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750" b="0">
                <a:solidFill>
                  <a:srgbClr val="60777C"/>
                </a:solidFill>
                <a:latin typeface="Bitstream Charter"/>
                <a:ea typeface="Bitstream Charter"/>
                <a:cs typeface="Bitstream Charter"/>
              </a:rPr>
              <a:t>Fuente: Grupo N.° 06 (2026). Imagen: elaboración propia con IA.</a:t>
            </a:r>
          </a:p>
        </p:txBody>
      </p:sp>
    </p:spTree>
    <p:extLst>
      <p:ext uri="{BB962C8B-B14F-4D97-AF65-F5344CB8AC3E}">
        <p14:creationId xmlns:p14="http://schemas.microsoft.com/office/powerpoint/2010/main" val="4295811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ángulo 16">
            <a:extLst>
              <a:ext uri="{FF2B5EF4-FFF2-40B4-BE49-F238E27FC236}">
                <a16:creationId xmlns:a16="http://schemas.microsoft.com/office/drawing/2014/main" id="{00E7A6DA-61BD-4E65-B140-E6119CFE987B}"/>
              </a:ext>
            </a:extLst>
          </p:cNvPr>
          <p:cNvSpPr>
            <a:spLocks noGrp="1"/>
          </p:cNvSpPr>
          <p:nvPr/>
        </p:nvSpPr>
        <p:spPr>
          <a:xfrm>
            <a:off x="628650" y="333375"/>
            <a:ext cx="10001250" cy="552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400" b="1">
                <a:solidFill>
                  <a:srgbClr val="123C4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400" b="1">
                <a:solidFill>
                  <a:srgbClr val="123C4A"/>
                </a:solidFill>
                <a:latin typeface="Bitstream Charter"/>
                <a:ea typeface="Bitstream Charter"/>
                <a:cs typeface="Bitstream Charter"/>
              </a:rPr>
              <a:t>Factibilidad y control de riesgos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E871A1B9-3A90-42B1-8D4A-45BBA2F7AE4A}"/>
              </a:ext>
            </a:extLst>
          </p:cNvPr>
          <p:cNvSpPr>
            <a:spLocks noGrp="1"/>
          </p:cNvSpPr>
          <p:nvPr/>
        </p:nvSpPr>
        <p:spPr>
          <a:xfrm>
            <a:off x="11096625" y="361950"/>
            <a:ext cx="476250" cy="333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r">
              <a:defRPr sz="1200" b="1">
                <a:solidFill>
                  <a:srgbClr val="168B8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168B8C"/>
                </a:solidFill>
                <a:latin typeface="Bitstream Charter"/>
                <a:ea typeface="Bitstream Charter"/>
                <a:cs typeface="Bitstream Charter"/>
              </a:rPr>
              <a:t>06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20400B45-3251-40D2-9E58-6BCBD26E9751}"/>
              </a:ext>
            </a:extLst>
          </p:cNvPr>
          <p:cNvSpPr>
            <a:spLocks noGrp="1"/>
          </p:cNvSpPr>
          <p:nvPr/>
        </p:nvSpPr>
        <p:spPr>
          <a:xfrm>
            <a:off x="628650" y="942975"/>
            <a:ext cx="10953750" cy="28575"/>
          </a:xfrm>
          <a:prstGeom prst="rect">
            <a:avLst/>
          </a:prstGeom>
          <a:solidFill>
            <a:srgbClr val="168B8C"/>
          </a:solidFill>
          <a:ln w="0"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B59F6B3E-B037-4AE2-B969-2D356220B9D7}"/>
              </a:ext>
            </a:extLst>
          </p:cNvPr>
          <p:cNvSpPr>
            <a:spLocks noGrp="1"/>
          </p:cNvSpPr>
          <p:nvPr/>
        </p:nvSpPr>
        <p:spPr>
          <a:xfrm>
            <a:off x="714375" y="1285875"/>
            <a:ext cx="4762500" cy="571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7778"/>
          </a:bodyPr>
          <a:lstStyle/>
          <a:p>
            <a:pPr algn="l">
              <a:defRPr sz="2025" b="1">
                <a:solidFill>
                  <a:srgbClr val="123C4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1">
                <a:solidFill>
                  <a:srgbClr val="123C4A"/>
                </a:solidFill>
                <a:latin typeface="Bitstream Charter"/>
                <a:ea typeface="Bitstream Charter"/>
                <a:cs typeface="Bitstream Charter"/>
              </a:rPr>
              <a:t>Scrum y un MVP integrado permiten abordar el proyecto en 18 semanas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04A3900E-BAC6-416D-AE2C-4C2EAE527D58}"/>
              </a:ext>
            </a:extLst>
          </p:cNvPr>
          <p:cNvSpPr>
            <a:spLocks noGrp="1"/>
          </p:cNvSpPr>
          <p:nvPr/>
        </p:nvSpPr>
        <p:spPr>
          <a:xfrm>
            <a:off x="857250" y="2381250"/>
            <a:ext cx="1381125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425" b="1">
                <a:solidFill>
                  <a:srgbClr val="168B8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25" b="1">
                <a:solidFill>
                  <a:srgbClr val="168B8C"/>
                </a:solidFill>
                <a:latin typeface="Bitstream Charter"/>
                <a:ea typeface="Bitstream Charter"/>
                <a:cs typeface="Bitstream Charter"/>
              </a:rPr>
              <a:t>Alcance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66D9B1BF-2E02-4CC1-B956-95EFD2D97529}"/>
              </a:ext>
            </a:extLst>
          </p:cNvPr>
          <p:cNvSpPr>
            <a:spLocks noGrp="1"/>
          </p:cNvSpPr>
          <p:nvPr/>
        </p:nvSpPr>
        <p:spPr>
          <a:xfrm>
            <a:off x="2333625" y="2381250"/>
            <a:ext cx="3333750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75" b="0">
                <a:solidFill>
                  <a:srgbClr val="52656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52656B"/>
                </a:solidFill>
                <a:latin typeface="Bitstream Charter"/>
                <a:ea typeface="Bitstream Charter"/>
                <a:cs typeface="Bitstream Charter"/>
              </a:rPr>
              <a:t>Priorizar un MVP y ampliar por iteraciones.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A85F10A1-BDEA-440E-9672-915C930E9893}"/>
              </a:ext>
            </a:extLst>
          </p:cNvPr>
          <p:cNvSpPr>
            <a:spLocks noGrp="1"/>
          </p:cNvSpPr>
          <p:nvPr/>
        </p:nvSpPr>
        <p:spPr>
          <a:xfrm>
            <a:off x="857250" y="3190875"/>
            <a:ext cx="1381125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425" b="1">
                <a:solidFill>
                  <a:srgbClr val="168B8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25" b="1">
                <a:solidFill>
                  <a:srgbClr val="168B8C"/>
                </a:solidFill>
                <a:latin typeface="Bitstream Charter"/>
                <a:ea typeface="Bitstream Charter"/>
                <a:cs typeface="Bitstream Charter"/>
              </a:rPr>
              <a:t>Seguridad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90B63031-2063-440D-B68F-A15CCF5D9723}"/>
              </a:ext>
            </a:extLst>
          </p:cNvPr>
          <p:cNvSpPr>
            <a:spLocks noGrp="1"/>
          </p:cNvSpPr>
          <p:nvPr/>
        </p:nvSpPr>
        <p:spPr>
          <a:xfrm>
            <a:off x="2333625" y="3190875"/>
            <a:ext cx="3333750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75" b="0">
                <a:solidFill>
                  <a:srgbClr val="52656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52656B"/>
                </a:solidFill>
                <a:latin typeface="Bitstream Charter"/>
                <a:ea typeface="Bitstream Charter"/>
                <a:cs typeface="Bitstream Charter"/>
              </a:rPr>
              <a:t>Permisos por rol, auditoría y pruebas negativas.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2258D93C-B76D-4FDB-8F87-3415360F7327}"/>
              </a:ext>
            </a:extLst>
          </p:cNvPr>
          <p:cNvSpPr>
            <a:spLocks noGrp="1"/>
          </p:cNvSpPr>
          <p:nvPr/>
        </p:nvSpPr>
        <p:spPr>
          <a:xfrm>
            <a:off x="857250" y="4000500"/>
            <a:ext cx="1381125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425" b="1">
                <a:solidFill>
                  <a:srgbClr val="168B8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25" b="1">
                <a:solidFill>
                  <a:srgbClr val="168B8C"/>
                </a:solidFill>
                <a:latin typeface="Bitstream Charter"/>
                <a:ea typeface="Bitstream Charter"/>
                <a:cs typeface="Bitstream Charter"/>
              </a:rPr>
              <a:t>Calidad de IA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E3ED8CF7-EBDB-44F4-968E-7EF0C152FB44}"/>
              </a:ext>
            </a:extLst>
          </p:cNvPr>
          <p:cNvSpPr>
            <a:spLocks noGrp="1"/>
          </p:cNvSpPr>
          <p:nvPr/>
        </p:nvSpPr>
        <p:spPr>
          <a:xfrm>
            <a:off x="2333625" y="4000500"/>
            <a:ext cx="3333750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75" b="0">
                <a:solidFill>
                  <a:srgbClr val="52656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52656B"/>
                </a:solidFill>
                <a:latin typeface="Bitstream Charter"/>
                <a:ea typeface="Bitstream Charter"/>
                <a:cs typeface="Bitstream Charter"/>
              </a:rPr>
              <a:t>Casos controlados, advertencias y revisión humana.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D304CAF1-B77A-47A7-92EF-351306CA638F}"/>
              </a:ext>
            </a:extLst>
          </p:cNvPr>
          <p:cNvSpPr>
            <a:spLocks noGrp="1"/>
          </p:cNvSpPr>
          <p:nvPr/>
        </p:nvSpPr>
        <p:spPr>
          <a:xfrm>
            <a:off x="857250" y="4810125"/>
            <a:ext cx="1381125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425" b="1">
                <a:solidFill>
                  <a:srgbClr val="168B8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25" b="1">
                <a:solidFill>
                  <a:srgbClr val="168B8C"/>
                </a:solidFill>
                <a:latin typeface="Bitstream Charter"/>
                <a:ea typeface="Bitstream Charter"/>
                <a:cs typeface="Bitstream Charter"/>
              </a:rPr>
              <a:t>Integración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207D28A4-2A5B-4532-896B-864BDA6F76F5}"/>
              </a:ext>
            </a:extLst>
          </p:cNvPr>
          <p:cNvSpPr>
            <a:spLocks noGrp="1"/>
          </p:cNvSpPr>
          <p:nvPr/>
        </p:nvSpPr>
        <p:spPr>
          <a:xfrm>
            <a:off x="2333625" y="4810125"/>
            <a:ext cx="3333750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75" b="0">
                <a:solidFill>
                  <a:srgbClr val="52656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52656B"/>
                </a:solidFill>
                <a:latin typeface="Bitstream Charter"/>
                <a:ea typeface="Bitstream Charter"/>
                <a:cs typeface="Bitstream Charter"/>
              </a:rPr>
              <a:t>Integrar temprano y automatizar pruebas.</a:t>
            </a:r>
          </a:p>
        </p:txBody>
      </p:sp>
      <p:pic>
        <p:nvPicPr>
          <p:cNvPr id="29" name="Imagen 28"/>
          <p:cNvPicPr>
            <a:picLocks noChangeAspect="1"/>
          </p:cNvPicPr>
          <p:nvPr/>
        </p:nvPicPr>
        <p:blipFill>
          <a:blip r:embed="rId3"/>
          <a:srcRect t="15591" b="15591"/>
          <a:stretch>
            <a:fillRect/>
          </a:stretch>
        </p:blipFill>
        <p:spPr>
          <a:xfrm>
            <a:off x="6429375" y="1333500"/>
            <a:ext cx="4429125" cy="3048000"/>
          </a:xfrm>
          <a:prstGeom prst="rect">
            <a:avLst/>
          </a:prstGeom>
        </p:spPr>
      </p:pic>
      <p:sp>
        <p:nvSpPr>
          <p:cNvPr id="14" name="Rectángulo: esquinas redondeadas 13">
            <a:extLst>
              <a:ext uri="{FF2B5EF4-FFF2-40B4-BE49-F238E27FC236}">
                <a16:creationId xmlns:a16="http://schemas.microsoft.com/office/drawing/2014/main" id="{5008F09E-8446-40E9-86BC-045984EB307A}"/>
              </a:ext>
            </a:extLst>
          </p:cNvPr>
          <p:cNvSpPr>
            <a:spLocks noGrp="1"/>
          </p:cNvSpPr>
          <p:nvPr/>
        </p:nvSpPr>
        <p:spPr>
          <a:xfrm>
            <a:off x="6429375" y="4572000"/>
            <a:ext cx="4429125" cy="1190625"/>
          </a:xfrm>
          <a:prstGeom prst="roundRect">
            <a:avLst>
              <a:gd name="adj" fmla="val 6400"/>
            </a:avLst>
          </a:prstGeom>
          <a:solidFill>
            <a:srgbClr val="EAF5F4"/>
          </a:solidFill>
          <a:ln w="9525">
            <a:solidFill>
              <a:srgbClr val="C7D9D9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81CBB9AE-1F02-4E3F-B2C4-2B239E492A3F}"/>
              </a:ext>
            </a:extLst>
          </p:cNvPr>
          <p:cNvSpPr>
            <a:spLocks noGrp="1"/>
          </p:cNvSpPr>
          <p:nvPr/>
        </p:nvSpPr>
        <p:spPr>
          <a:xfrm>
            <a:off x="6619875" y="4686300"/>
            <a:ext cx="4048125" cy="904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350" b="1">
                <a:solidFill>
                  <a:srgbClr val="123C4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1">
                <a:solidFill>
                  <a:srgbClr val="123C4A"/>
                </a:solidFill>
                <a:latin typeface="Bitstream Charter"/>
                <a:ea typeface="Bitstream Charter"/>
                <a:cs typeface="Bitstream Charter"/>
              </a:rPr>
              <a:t>Recursos: cinco integrantes, herramientas del stack, repositorio Git, datos sintéticos y validación con la cliente.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A9E32DF1-7ECA-4FB9-A043-1C8C59EBB639}"/>
              </a:ext>
            </a:extLst>
          </p:cNvPr>
          <p:cNvSpPr>
            <a:spLocks noGrp="1"/>
          </p:cNvSpPr>
          <p:nvPr/>
        </p:nvSpPr>
        <p:spPr>
          <a:xfrm>
            <a:off x="628650" y="6429375"/>
            <a:ext cx="1093470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750" b="0">
                <a:solidFill>
                  <a:srgbClr val="60777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750" b="0">
                <a:solidFill>
                  <a:srgbClr val="60777C"/>
                </a:solidFill>
                <a:latin typeface="Bitstream Charter"/>
                <a:ea typeface="Bitstream Charter"/>
                <a:cs typeface="Bitstream Charter"/>
              </a:rPr>
              <a:t>Fuentes: Grupo N.° 06; OWASP (2023). Imagen IA de elaboración propia.</a:t>
            </a:r>
          </a:p>
        </p:txBody>
      </p:sp>
    </p:spTree>
    <p:extLst>
      <p:ext uri="{BB962C8B-B14F-4D97-AF65-F5344CB8AC3E}">
        <p14:creationId xmlns:p14="http://schemas.microsoft.com/office/powerpoint/2010/main" val="16925671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3C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ángulo 30">
            <a:extLst>
              <a:ext uri="{FF2B5EF4-FFF2-40B4-BE49-F238E27FC236}">
                <a16:creationId xmlns:a16="http://schemas.microsoft.com/office/drawing/2014/main" id="{A9487F05-FECB-4ABD-AE16-9977E2DBDA69}"/>
              </a:ext>
            </a:extLst>
          </p:cNvPr>
          <p:cNvSpPr>
            <a:spLocks noGrp="1"/>
          </p:cNvSpPr>
          <p:nvPr/>
        </p:nvSpPr>
        <p:spPr>
          <a:xfrm>
            <a:off x="628650" y="333375"/>
            <a:ext cx="10001250" cy="552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4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Plan de trabajo y decisión solicitada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FF614D02-1E20-48AB-8435-5CFADF053FB3}"/>
              </a:ext>
            </a:extLst>
          </p:cNvPr>
          <p:cNvSpPr>
            <a:spLocks noGrp="1"/>
          </p:cNvSpPr>
          <p:nvPr/>
        </p:nvSpPr>
        <p:spPr>
          <a:xfrm>
            <a:off x="11096625" y="361950"/>
            <a:ext cx="476250" cy="333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r">
              <a:defRPr sz="1200" b="1">
                <a:solidFill>
                  <a:srgbClr val="86D5C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86D5CF"/>
                </a:solidFill>
                <a:latin typeface="Bitstream Charter"/>
                <a:ea typeface="Bitstream Charter"/>
                <a:cs typeface="Bitstream Charter"/>
              </a:rPr>
              <a:t>07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FA110142-000D-49BE-9CEB-1AE8F555F44B}"/>
              </a:ext>
            </a:extLst>
          </p:cNvPr>
          <p:cNvSpPr>
            <a:spLocks noGrp="1"/>
          </p:cNvSpPr>
          <p:nvPr/>
        </p:nvSpPr>
        <p:spPr>
          <a:xfrm>
            <a:off x="628650" y="942975"/>
            <a:ext cx="10953750" cy="28575"/>
          </a:xfrm>
          <a:prstGeom prst="rect">
            <a:avLst/>
          </a:prstGeom>
          <a:solidFill>
            <a:srgbClr val="86D5CF"/>
          </a:solidFill>
          <a:ln w="0"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147AE0B9-BC7D-40F3-8994-622BD702FB4B}"/>
              </a:ext>
            </a:extLst>
          </p:cNvPr>
          <p:cNvSpPr>
            <a:spLocks noGrp="1"/>
          </p:cNvSpPr>
          <p:nvPr/>
        </p:nvSpPr>
        <p:spPr>
          <a:xfrm>
            <a:off x="666750" y="1524000"/>
            <a:ext cx="523875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650" b="1">
                <a:solidFill>
                  <a:srgbClr val="123C4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1">
                <a:solidFill>
                  <a:srgbClr val="123C4A"/>
                </a:solidFill>
                <a:latin typeface="Bitstream Charter"/>
                <a:ea typeface="Bitstream Charter"/>
                <a:cs typeface="Bitstream Charter"/>
              </a:rPr>
              <a:t>1</a:t>
            </a:r>
          </a:p>
        </p:txBody>
      </p:sp>
      <p:sp>
        <p:nvSpPr>
          <p:cNvPr id="5" name="Rectángulo: esquinas redondeadas 4">
            <a:extLst>
              <a:ext uri="{FF2B5EF4-FFF2-40B4-BE49-F238E27FC236}">
                <a16:creationId xmlns:a16="http://schemas.microsoft.com/office/drawing/2014/main" id="{097BA9C2-E5D3-45F9-99EC-BEA71DA042B1}"/>
              </a:ext>
            </a:extLst>
          </p:cNvPr>
          <p:cNvSpPr>
            <a:spLocks noGrp="1"/>
          </p:cNvSpPr>
          <p:nvPr/>
        </p:nvSpPr>
        <p:spPr>
          <a:xfrm>
            <a:off x="628650" y="1485900"/>
            <a:ext cx="609600" cy="552450"/>
          </a:xfrm>
          <a:prstGeom prst="roundRect">
            <a:avLst>
              <a:gd name="adj" fmla="val 13793"/>
            </a:avLst>
          </a:prstGeom>
          <a:solidFill>
            <a:srgbClr val="86D5CF"/>
          </a:solidFill>
          <a:ln w="0"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2F25DA8F-773C-4ECF-B805-30D9C97B1B85}"/>
              </a:ext>
            </a:extLst>
          </p:cNvPr>
          <p:cNvSpPr>
            <a:spLocks noGrp="1"/>
          </p:cNvSpPr>
          <p:nvPr/>
        </p:nvSpPr>
        <p:spPr>
          <a:xfrm>
            <a:off x="666750" y="2238375"/>
            <a:ext cx="1809750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65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Fase 1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5BA885BE-72CD-4807-9168-8D1F8AEA3702}"/>
              </a:ext>
            </a:extLst>
          </p:cNvPr>
          <p:cNvSpPr>
            <a:spLocks noGrp="1"/>
          </p:cNvSpPr>
          <p:nvPr/>
        </p:nvSpPr>
        <p:spPr>
          <a:xfrm>
            <a:off x="666750" y="2714625"/>
            <a:ext cx="1809750" cy="619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00" b="0">
                <a:solidFill>
                  <a:srgbClr val="D6E8E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D6E8E8"/>
                </a:solidFill>
                <a:latin typeface="Bitstream Charter"/>
                <a:ea typeface="Bitstream Charter"/>
                <a:cs typeface="Bitstream Charter"/>
              </a:rPr>
              <a:t>Definición  S1 a S4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FF536F49-9F29-4743-AF49-1041F7DDB2E2}"/>
              </a:ext>
            </a:extLst>
          </p:cNvPr>
          <p:cNvSpPr>
            <a:spLocks noGrp="1"/>
          </p:cNvSpPr>
          <p:nvPr/>
        </p:nvSpPr>
        <p:spPr>
          <a:xfrm>
            <a:off x="2476500" y="1733550"/>
            <a:ext cx="333375" cy="28575"/>
          </a:xfrm>
          <a:prstGeom prst="rect">
            <a:avLst/>
          </a:prstGeom>
          <a:solidFill>
            <a:srgbClr val="86D5CF"/>
          </a:solidFill>
          <a:ln w="0"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BA3D4F05-27A1-4B67-8B64-7996BDF75741}"/>
              </a:ext>
            </a:extLst>
          </p:cNvPr>
          <p:cNvSpPr>
            <a:spLocks noGrp="1"/>
          </p:cNvSpPr>
          <p:nvPr/>
        </p:nvSpPr>
        <p:spPr>
          <a:xfrm>
            <a:off x="2905125" y="1524000"/>
            <a:ext cx="523875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650" b="1">
                <a:solidFill>
                  <a:srgbClr val="123C4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1">
                <a:solidFill>
                  <a:srgbClr val="123C4A"/>
                </a:solidFill>
                <a:latin typeface="Bitstream Charter"/>
                <a:ea typeface="Bitstream Charter"/>
                <a:cs typeface="Bitstream Charter"/>
              </a:rPr>
              <a:t>2</a:t>
            </a:r>
          </a:p>
        </p:txBody>
      </p:sp>
      <p:sp>
        <p:nvSpPr>
          <p:cNvPr id="10" name="Rectángulo: esquinas redondeadas 9">
            <a:extLst>
              <a:ext uri="{FF2B5EF4-FFF2-40B4-BE49-F238E27FC236}">
                <a16:creationId xmlns:a16="http://schemas.microsoft.com/office/drawing/2014/main" id="{6039FA34-8A91-48F5-B6DA-5DDC679159A7}"/>
              </a:ext>
            </a:extLst>
          </p:cNvPr>
          <p:cNvSpPr>
            <a:spLocks noGrp="1"/>
          </p:cNvSpPr>
          <p:nvPr/>
        </p:nvSpPr>
        <p:spPr>
          <a:xfrm>
            <a:off x="2867025" y="1485900"/>
            <a:ext cx="609600" cy="552450"/>
          </a:xfrm>
          <a:prstGeom prst="roundRect">
            <a:avLst>
              <a:gd name="adj" fmla="val 13793"/>
            </a:avLst>
          </a:prstGeom>
          <a:solidFill>
            <a:srgbClr val="86D5CF"/>
          </a:solidFill>
          <a:ln w="0"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84125B9E-386B-43CA-A22E-904F455F6E86}"/>
              </a:ext>
            </a:extLst>
          </p:cNvPr>
          <p:cNvSpPr>
            <a:spLocks noGrp="1"/>
          </p:cNvSpPr>
          <p:nvPr/>
        </p:nvSpPr>
        <p:spPr>
          <a:xfrm>
            <a:off x="2905125" y="2238375"/>
            <a:ext cx="1809750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65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Diseñar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5F2C6558-9EE6-4625-8E75-E7032F50DEDE}"/>
              </a:ext>
            </a:extLst>
          </p:cNvPr>
          <p:cNvSpPr>
            <a:spLocks noGrp="1"/>
          </p:cNvSpPr>
          <p:nvPr/>
        </p:nvSpPr>
        <p:spPr>
          <a:xfrm>
            <a:off x="2905125" y="2714625"/>
            <a:ext cx="1809750" cy="619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00" b="0">
                <a:solidFill>
                  <a:srgbClr val="D6E8E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D6E8E8"/>
                </a:solidFill>
                <a:latin typeface="Bitstream Charter"/>
                <a:ea typeface="Bitstream Charter"/>
                <a:cs typeface="Bitstream Charter"/>
              </a:rPr>
              <a:t>Arquitectura  S3 a S5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E0D7356D-702D-4DB2-AE7E-F378C7391576}"/>
              </a:ext>
            </a:extLst>
          </p:cNvPr>
          <p:cNvSpPr>
            <a:spLocks noGrp="1"/>
          </p:cNvSpPr>
          <p:nvPr/>
        </p:nvSpPr>
        <p:spPr>
          <a:xfrm>
            <a:off x="4714875" y="1733550"/>
            <a:ext cx="333375" cy="28575"/>
          </a:xfrm>
          <a:prstGeom prst="rect">
            <a:avLst/>
          </a:prstGeom>
          <a:solidFill>
            <a:srgbClr val="86D5CF"/>
          </a:solidFill>
          <a:ln w="0"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D5BBAEEB-0AE5-4B01-8E7B-21F007B0E94B}"/>
              </a:ext>
            </a:extLst>
          </p:cNvPr>
          <p:cNvSpPr>
            <a:spLocks noGrp="1"/>
          </p:cNvSpPr>
          <p:nvPr/>
        </p:nvSpPr>
        <p:spPr>
          <a:xfrm>
            <a:off x="5143500" y="1524000"/>
            <a:ext cx="523875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650" b="1">
                <a:solidFill>
                  <a:srgbClr val="123C4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1">
                <a:solidFill>
                  <a:srgbClr val="123C4A"/>
                </a:solidFill>
                <a:latin typeface="Bitstream Charter"/>
                <a:ea typeface="Bitstream Charter"/>
                <a:cs typeface="Bitstream Charter"/>
              </a:rPr>
              <a:t>3</a:t>
            </a:r>
          </a:p>
        </p:txBody>
      </p:sp>
      <p:sp>
        <p:nvSpPr>
          <p:cNvPr id="15" name="Rectángulo: esquinas redondeadas 14">
            <a:extLst>
              <a:ext uri="{FF2B5EF4-FFF2-40B4-BE49-F238E27FC236}">
                <a16:creationId xmlns:a16="http://schemas.microsoft.com/office/drawing/2014/main" id="{65A4519E-CE35-4B2B-8804-8EF3F9A76A1D}"/>
              </a:ext>
            </a:extLst>
          </p:cNvPr>
          <p:cNvSpPr>
            <a:spLocks noGrp="1"/>
          </p:cNvSpPr>
          <p:nvPr/>
        </p:nvSpPr>
        <p:spPr>
          <a:xfrm>
            <a:off x="5105400" y="1485900"/>
            <a:ext cx="609600" cy="552450"/>
          </a:xfrm>
          <a:prstGeom prst="roundRect">
            <a:avLst>
              <a:gd name="adj" fmla="val 13793"/>
            </a:avLst>
          </a:prstGeom>
          <a:solidFill>
            <a:srgbClr val="86D5CF"/>
          </a:solidFill>
          <a:ln w="0"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1C97C085-06FA-4AB1-805F-F5E62D3ACA6A}"/>
              </a:ext>
            </a:extLst>
          </p:cNvPr>
          <p:cNvSpPr>
            <a:spLocks noGrp="1"/>
          </p:cNvSpPr>
          <p:nvPr/>
        </p:nvSpPr>
        <p:spPr>
          <a:xfrm>
            <a:off x="5143500" y="2238375"/>
            <a:ext cx="1809750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65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Construir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9191F004-A0D9-4954-BB41-01C55F22AB77}"/>
              </a:ext>
            </a:extLst>
          </p:cNvPr>
          <p:cNvSpPr>
            <a:spLocks noGrp="1"/>
          </p:cNvSpPr>
          <p:nvPr/>
        </p:nvSpPr>
        <p:spPr>
          <a:xfrm>
            <a:off x="5143500" y="2714625"/>
            <a:ext cx="1809750" cy="619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00" b="0">
                <a:solidFill>
                  <a:srgbClr val="D6E8E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D6E8E8"/>
                </a:solidFill>
                <a:latin typeface="Bitstream Charter"/>
                <a:ea typeface="Bitstream Charter"/>
                <a:cs typeface="Bitstream Charter"/>
              </a:rPr>
              <a:t>Solución  S5 a S13</a:t>
            </a: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40D6A50D-0FCB-4F1E-9C8A-9015AEE524AB}"/>
              </a:ext>
            </a:extLst>
          </p:cNvPr>
          <p:cNvSpPr>
            <a:spLocks noGrp="1"/>
          </p:cNvSpPr>
          <p:nvPr/>
        </p:nvSpPr>
        <p:spPr>
          <a:xfrm>
            <a:off x="6953250" y="1733550"/>
            <a:ext cx="333375" cy="28575"/>
          </a:xfrm>
          <a:prstGeom prst="rect">
            <a:avLst/>
          </a:prstGeom>
          <a:solidFill>
            <a:srgbClr val="86D5CF"/>
          </a:solidFill>
          <a:ln w="0"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0AFEA387-E07B-4EC0-B285-AD112163F70A}"/>
              </a:ext>
            </a:extLst>
          </p:cNvPr>
          <p:cNvSpPr>
            <a:spLocks noGrp="1"/>
          </p:cNvSpPr>
          <p:nvPr/>
        </p:nvSpPr>
        <p:spPr>
          <a:xfrm>
            <a:off x="7381875" y="1524000"/>
            <a:ext cx="523875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650" b="1">
                <a:solidFill>
                  <a:srgbClr val="123C4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1">
                <a:solidFill>
                  <a:srgbClr val="123C4A"/>
                </a:solidFill>
                <a:latin typeface="Bitstream Charter"/>
                <a:ea typeface="Bitstream Charter"/>
                <a:cs typeface="Bitstream Charter"/>
              </a:rPr>
              <a:t>4</a:t>
            </a:r>
          </a:p>
        </p:txBody>
      </p:sp>
      <p:sp>
        <p:nvSpPr>
          <p:cNvPr id="20" name="Rectángulo: esquinas redondeadas 19">
            <a:extLst>
              <a:ext uri="{FF2B5EF4-FFF2-40B4-BE49-F238E27FC236}">
                <a16:creationId xmlns:a16="http://schemas.microsoft.com/office/drawing/2014/main" id="{D869803F-E6C2-4C41-8E4B-5FBDD227C8DF}"/>
              </a:ext>
            </a:extLst>
          </p:cNvPr>
          <p:cNvSpPr>
            <a:spLocks noGrp="1"/>
          </p:cNvSpPr>
          <p:nvPr/>
        </p:nvSpPr>
        <p:spPr>
          <a:xfrm>
            <a:off x="7343775" y="1485900"/>
            <a:ext cx="609600" cy="552450"/>
          </a:xfrm>
          <a:prstGeom prst="roundRect">
            <a:avLst>
              <a:gd name="adj" fmla="val 13793"/>
            </a:avLst>
          </a:prstGeom>
          <a:solidFill>
            <a:srgbClr val="86D5CF"/>
          </a:solidFill>
          <a:ln w="0"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F5B67448-C3CE-40EA-9EE8-0A2811E43CC4}"/>
              </a:ext>
            </a:extLst>
          </p:cNvPr>
          <p:cNvSpPr>
            <a:spLocks noGrp="1"/>
          </p:cNvSpPr>
          <p:nvPr/>
        </p:nvSpPr>
        <p:spPr>
          <a:xfrm>
            <a:off x="7381875" y="2238375"/>
            <a:ext cx="1809750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65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Validar</a:t>
            </a:r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17E5C55E-101F-4CC9-890B-D8D169F43CA5}"/>
              </a:ext>
            </a:extLst>
          </p:cNvPr>
          <p:cNvSpPr>
            <a:spLocks noGrp="1"/>
          </p:cNvSpPr>
          <p:nvPr/>
        </p:nvSpPr>
        <p:spPr>
          <a:xfrm>
            <a:off x="7381875" y="2714625"/>
            <a:ext cx="1809750" cy="619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00" b="0">
                <a:solidFill>
                  <a:srgbClr val="D6E8E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D6E8E8"/>
                </a:solidFill>
                <a:latin typeface="Bitstream Charter"/>
                <a:ea typeface="Bitstream Charter"/>
                <a:cs typeface="Bitstream Charter"/>
              </a:rPr>
              <a:t>Pruebas  S10 a S16</a:t>
            </a:r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DC6ED046-C936-4B24-B6B3-FDDB0E9663E7}"/>
              </a:ext>
            </a:extLst>
          </p:cNvPr>
          <p:cNvSpPr>
            <a:spLocks noGrp="1"/>
          </p:cNvSpPr>
          <p:nvPr/>
        </p:nvSpPr>
        <p:spPr>
          <a:xfrm>
            <a:off x="9191625" y="1733550"/>
            <a:ext cx="333375" cy="28575"/>
          </a:xfrm>
          <a:prstGeom prst="rect">
            <a:avLst/>
          </a:prstGeom>
          <a:solidFill>
            <a:srgbClr val="86D5CF"/>
          </a:solidFill>
          <a:ln w="0"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E26BDB8A-5AF7-41DB-8D0D-9DD0B1F484AE}"/>
              </a:ext>
            </a:extLst>
          </p:cNvPr>
          <p:cNvSpPr>
            <a:spLocks noGrp="1"/>
          </p:cNvSpPr>
          <p:nvPr/>
        </p:nvSpPr>
        <p:spPr>
          <a:xfrm>
            <a:off x="9620250" y="1524000"/>
            <a:ext cx="523875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650" b="1">
                <a:solidFill>
                  <a:srgbClr val="123C4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1">
                <a:solidFill>
                  <a:srgbClr val="123C4A"/>
                </a:solidFill>
                <a:latin typeface="Bitstream Charter"/>
                <a:ea typeface="Bitstream Charter"/>
                <a:cs typeface="Bitstream Charter"/>
              </a:rPr>
              <a:t>5</a:t>
            </a:r>
          </a:p>
        </p:txBody>
      </p:sp>
      <p:sp>
        <p:nvSpPr>
          <p:cNvPr id="25" name="Rectángulo: esquinas redondeadas 24">
            <a:extLst>
              <a:ext uri="{FF2B5EF4-FFF2-40B4-BE49-F238E27FC236}">
                <a16:creationId xmlns:a16="http://schemas.microsoft.com/office/drawing/2014/main" id="{4DE6DB9C-2CB8-4B51-9EEA-9E76B59B85B1}"/>
              </a:ext>
            </a:extLst>
          </p:cNvPr>
          <p:cNvSpPr>
            <a:spLocks noGrp="1"/>
          </p:cNvSpPr>
          <p:nvPr/>
        </p:nvSpPr>
        <p:spPr>
          <a:xfrm>
            <a:off x="9582150" y="1485900"/>
            <a:ext cx="609600" cy="552450"/>
          </a:xfrm>
          <a:prstGeom prst="roundRect">
            <a:avLst>
              <a:gd name="adj" fmla="val 13793"/>
            </a:avLst>
          </a:prstGeom>
          <a:solidFill>
            <a:srgbClr val="86D5CF"/>
          </a:solidFill>
          <a:ln w="0"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26" name="Rectángulo 25">
            <a:extLst>
              <a:ext uri="{FF2B5EF4-FFF2-40B4-BE49-F238E27FC236}">
                <a16:creationId xmlns:a16="http://schemas.microsoft.com/office/drawing/2014/main" id="{7E266624-7155-4F49-AD6A-DBEF4C8F7DBF}"/>
              </a:ext>
            </a:extLst>
          </p:cNvPr>
          <p:cNvSpPr>
            <a:spLocks noGrp="1"/>
          </p:cNvSpPr>
          <p:nvPr/>
        </p:nvSpPr>
        <p:spPr>
          <a:xfrm>
            <a:off x="9620250" y="2238375"/>
            <a:ext cx="1809750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65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Fase 3</a:t>
            </a:r>
          </a:p>
        </p:txBody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D0B025C0-62D6-4865-875B-C2E52484711D}"/>
              </a:ext>
            </a:extLst>
          </p:cNvPr>
          <p:cNvSpPr>
            <a:spLocks noGrp="1"/>
          </p:cNvSpPr>
          <p:nvPr/>
        </p:nvSpPr>
        <p:spPr>
          <a:xfrm>
            <a:off x="9620250" y="2714625"/>
            <a:ext cx="1809750" cy="619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00" b="0">
                <a:solidFill>
                  <a:srgbClr val="D6E8E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D6E8E8"/>
                </a:solidFill>
                <a:latin typeface="Bitstream Charter"/>
                <a:ea typeface="Bitstream Charter"/>
                <a:cs typeface="Bitstream Charter"/>
              </a:rPr>
              <a:t>Despliegue  S16 a S18</a:t>
            </a:r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82FC1FF6-DA91-47BC-AEC2-010CA1489777}"/>
              </a:ext>
            </a:extLst>
          </p:cNvPr>
          <p:cNvSpPr>
            <a:spLocks noGrp="1"/>
          </p:cNvSpPr>
          <p:nvPr/>
        </p:nvSpPr>
        <p:spPr>
          <a:xfrm>
            <a:off x="1000125" y="4095750"/>
            <a:ext cx="10191750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21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Evidencias: backlog, diseño técnico, incremento integrado, pruebas y despliegue</a:t>
            </a:r>
          </a:p>
        </p:txBody>
      </p:sp>
      <p:sp>
        <p:nvSpPr>
          <p:cNvPr id="29" name="Rectángulo 28">
            <a:extLst>
              <a:ext uri="{FF2B5EF4-FFF2-40B4-BE49-F238E27FC236}">
                <a16:creationId xmlns:a16="http://schemas.microsoft.com/office/drawing/2014/main" id="{B1B80E36-2DD6-4CBE-85C9-72B35CC87BD2}"/>
              </a:ext>
            </a:extLst>
          </p:cNvPr>
          <p:cNvSpPr>
            <a:spLocks noGrp="1"/>
          </p:cNvSpPr>
          <p:nvPr/>
        </p:nvSpPr>
        <p:spPr>
          <a:xfrm>
            <a:off x="1762125" y="5191125"/>
            <a:ext cx="8667750" cy="495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425" b="0">
                <a:solidFill>
                  <a:srgbClr val="D6E8E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25" b="0">
                <a:solidFill>
                  <a:srgbClr val="D6E8E8"/>
                </a:solidFill>
                <a:latin typeface="Bitstream Charter"/>
                <a:ea typeface="Bitstream Charter"/>
                <a:cs typeface="Bitstream Charter"/>
              </a:rPr>
              <a:t>Decisión solicitada: validar usuarios, permisos, alcance multitenant y prioridades.</a:t>
            </a:r>
          </a:p>
        </p:txBody>
      </p:sp>
      <p:sp>
        <p:nvSpPr>
          <p:cNvPr id="30" name="Rectángulo 29">
            <a:extLst>
              <a:ext uri="{FF2B5EF4-FFF2-40B4-BE49-F238E27FC236}">
                <a16:creationId xmlns:a16="http://schemas.microsoft.com/office/drawing/2014/main" id="{F3AB886C-45F6-4457-8697-95626FFAD226}"/>
              </a:ext>
            </a:extLst>
          </p:cNvPr>
          <p:cNvSpPr>
            <a:spLocks noGrp="1"/>
          </p:cNvSpPr>
          <p:nvPr/>
        </p:nvSpPr>
        <p:spPr>
          <a:xfrm>
            <a:off x="628650" y="6429375"/>
            <a:ext cx="1093470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750" b="0">
                <a:solidFill>
                  <a:srgbClr val="D6E8E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750" b="0">
                <a:solidFill>
                  <a:srgbClr val="D6E8E8"/>
                </a:solidFill>
                <a:latin typeface="Bitstream Charter"/>
                <a:ea typeface="Bitstream Charter"/>
                <a:cs typeface="Bitstream Charter"/>
              </a:rPr>
              <a:t>Fuentes: Guía 1.5 Definición Proyecto APT y Planilla de Evaluación Fase 1.</a:t>
            </a:r>
          </a:p>
        </p:txBody>
      </p:sp>
    </p:spTree>
    <p:extLst>
      <p:ext uri="{BB962C8B-B14F-4D97-AF65-F5344CB8AC3E}">
        <p14:creationId xmlns:p14="http://schemas.microsoft.com/office/powerpoint/2010/main" val="2002213139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539</Words>
  <Application>Microsoft Office PowerPoint</Application>
  <DocSecurity>0</DocSecurity>
  <PresentationFormat>Panorámica</PresentationFormat>
  <Paragraphs>101</Paragraphs>
  <Slides>7</Slides>
  <Notes>7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0" baseType="lpstr">
      <vt:lpstr>Bitstream Charter</vt:lpstr>
      <vt:lpstr>Calibri</vt:lpstr>
      <vt:lpstr>ChatGPT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Jose Aranguiz</cp:lastModifiedBy>
  <cp:revision>1</cp:revision>
  <dcterms:created xsi:type="dcterms:W3CDTF">2026-09-10T00:03:57Z</dcterms:created>
  <dcterms:modified xsi:type="dcterms:W3CDTF">2026-09-11T00:24:10Z</dcterms:modified>
</cp:coreProperties>
</file>